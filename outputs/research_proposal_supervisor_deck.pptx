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39af932922477b" /><Relationship Type="http://schemas.openxmlformats.org/officeDocument/2006/relationships/extended-properties" Target="/docProps/app.xml" Id="Recdb6766077d4aa2" /><Relationship Type="http://schemas.openxmlformats.org/officeDocument/2006/relationships/officeDocument" Target="/ppt/presentation.xml" Id="Rae84e87d2d134a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17b53db92745dc"/>
  </p:sldMasterIdLst>
  <p:notesMasterIdLst>
    <p:notesMasterId xmlns:r="http://schemas.openxmlformats.org/officeDocument/2006/relationships" r:id="R0f5ce5b7202e45d2"/>
  </p:notesMasterIdLst>
  <p:sldIdLst>
    <p:sldId xmlns:r="http://schemas.openxmlformats.org/officeDocument/2006/relationships" id="256" r:id="R0999450b25c94988"/>
    <p:sldId xmlns:r="http://schemas.openxmlformats.org/officeDocument/2006/relationships" id="257" r:id="R702ae78ad22745e5"/>
    <p:sldId xmlns:r="http://schemas.openxmlformats.org/officeDocument/2006/relationships" id="258" r:id="Rc4ab5787ee594836"/>
    <p:sldId xmlns:r="http://schemas.openxmlformats.org/officeDocument/2006/relationships" id="259" r:id="Rb43cf1718995409d"/>
    <p:sldId xmlns:r="http://schemas.openxmlformats.org/officeDocument/2006/relationships" id="260" r:id="R5d3c3d726d3c4433"/>
    <p:sldId xmlns:r="http://schemas.openxmlformats.org/officeDocument/2006/relationships" id="261" r:id="Rbb55f10f93ad49d8"/>
    <p:sldId xmlns:r="http://schemas.openxmlformats.org/officeDocument/2006/relationships" id="262" r:id="R3ce875dc416c44a0"/>
    <p:sldId xmlns:r="http://schemas.openxmlformats.org/officeDocument/2006/relationships" id="263" r:id="R5517df2e54b64eab"/>
    <p:sldId xmlns:r="http://schemas.openxmlformats.org/officeDocument/2006/relationships" id="264" r:id="R109c59232d42413d"/>
    <p:sldId xmlns:r="http://schemas.openxmlformats.org/officeDocument/2006/relationships" id="265" r:id="R1d91c62c7aa444df"/>
    <p:sldId xmlns:r="http://schemas.openxmlformats.org/officeDocument/2006/relationships" id="266" r:id="R06b5d272acf840f7"/>
    <p:sldId xmlns:r="http://schemas.openxmlformats.org/officeDocument/2006/relationships" id="267" r:id="Rf25d2b1323954ebd"/>
    <p:sldId xmlns:r="http://schemas.openxmlformats.org/officeDocument/2006/relationships" id="268" r:id="R3f4a88eabe5648d0"/>
    <p:sldId xmlns:r="http://schemas.openxmlformats.org/officeDocument/2006/relationships" id="269" r:id="R47553f9716bc43cc"/>
    <p:sldId xmlns:r="http://schemas.openxmlformats.org/officeDocument/2006/relationships" id="270" r:id="R254932d2ef844c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ccad6b5d104293" /><Relationship Type="http://schemas.openxmlformats.org/officeDocument/2006/relationships/slideMaster" Target="/ppt/slideMasters/slideMaster1.xml" Id="Rdf17b53db92745dc" /><Relationship Type="http://schemas.openxmlformats.org/officeDocument/2006/relationships/notesMaster" Target="/ppt/notesMasters/notesMaster1.xml" Id="R0f5ce5b7202e45d2" /><Relationship Type="http://schemas.openxmlformats.org/officeDocument/2006/relationships/presProps" Target="/ppt/presProps.xml" Id="R2c0f18dce4f440bd" /><Relationship Type="http://schemas.openxmlformats.org/officeDocument/2006/relationships/tableStyles" Target="/ppt/tableStyles.xml" Id="Rdd32f5b69e5346cb" /><Relationship Type="http://schemas.openxmlformats.org/officeDocument/2006/relationships/slide" Target="/ppt/slides/slide1.xml" Id="R0999450b25c94988" /><Relationship Type="http://schemas.openxmlformats.org/officeDocument/2006/relationships/slide" Target="/ppt/slides/slide2.xml" Id="R702ae78ad22745e5" /><Relationship Type="http://schemas.openxmlformats.org/officeDocument/2006/relationships/slide" Target="/ppt/slides/slide3.xml" Id="Rc4ab5787ee594836" /><Relationship Type="http://schemas.openxmlformats.org/officeDocument/2006/relationships/slide" Target="/ppt/slides/slide4.xml" Id="Rb43cf1718995409d" /><Relationship Type="http://schemas.openxmlformats.org/officeDocument/2006/relationships/slide" Target="/ppt/slides/slide5.xml" Id="R5d3c3d726d3c4433" /><Relationship Type="http://schemas.openxmlformats.org/officeDocument/2006/relationships/slide" Target="/ppt/slides/slide6.xml" Id="Rbb55f10f93ad49d8" /><Relationship Type="http://schemas.openxmlformats.org/officeDocument/2006/relationships/slide" Target="/ppt/slides/slide7.xml" Id="R3ce875dc416c44a0" /><Relationship Type="http://schemas.openxmlformats.org/officeDocument/2006/relationships/slide" Target="/ppt/slides/slide8.xml" Id="R5517df2e54b64eab" /><Relationship Type="http://schemas.openxmlformats.org/officeDocument/2006/relationships/slide" Target="/ppt/slides/slide9.xml" Id="R109c59232d42413d" /><Relationship Type="http://schemas.openxmlformats.org/officeDocument/2006/relationships/slide" Target="/ppt/slides/slide10.xml" Id="R1d91c62c7aa444df" /><Relationship Type="http://schemas.openxmlformats.org/officeDocument/2006/relationships/slide" Target="/ppt/slides/slide11.xml" Id="R06b5d272acf840f7" /><Relationship Type="http://schemas.openxmlformats.org/officeDocument/2006/relationships/slide" Target="/ppt/slides/slide12.xml" Id="Rf25d2b1323954ebd" /><Relationship Type="http://schemas.openxmlformats.org/officeDocument/2006/relationships/slide" Target="/ppt/slides/slide13.xml" Id="R3f4a88eabe5648d0" /><Relationship Type="http://schemas.openxmlformats.org/officeDocument/2006/relationships/slide" Target="/ppt/slides/slide14.xml" Id="R47553f9716bc43cc" /><Relationship Type="http://schemas.openxmlformats.org/officeDocument/2006/relationships/slide" Target="/ppt/slides/slide15.xml" Id="R254932d2ef844c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e37e0be9f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bf1cf510654726" /><Relationship Type="http://schemas.openxmlformats.org/officeDocument/2006/relationships/notesMaster" Target="/ppt/notesMasters/notesMaster1.xml" Id="R2aaf9f47530948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f68c98ca4b4ed1" /><Relationship Type="http://schemas.openxmlformats.org/officeDocument/2006/relationships/notesMaster" Target="/ppt/notesMasters/notesMaster1.xml" Id="Rca8077f6651d44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3fd818d6f8484d" /><Relationship Type="http://schemas.openxmlformats.org/officeDocument/2006/relationships/notesMaster" Target="/ppt/notesMasters/notesMaster1.xml" Id="R0d056fc761174c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90e45d0d34378" /><Relationship Type="http://schemas.openxmlformats.org/officeDocument/2006/relationships/notesMaster" Target="/ppt/notesMasters/notesMaster1.xml" Id="Rbabf719d0d1f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1d717cc5374855" /><Relationship Type="http://schemas.openxmlformats.org/officeDocument/2006/relationships/notesMaster" Target="/ppt/notesMasters/notesMaster1.xml" Id="R1e2524c7718c4c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615b5494a54e0f" /><Relationship Type="http://schemas.openxmlformats.org/officeDocument/2006/relationships/notesMaster" Target="/ppt/notesMasters/notesMaster1.xml" Id="Rf2a0a5c0e66c43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a08633030a46ee" /><Relationship Type="http://schemas.openxmlformats.org/officeDocument/2006/relationships/notesMaster" Target="/ppt/notesMasters/notesMaster1.xml" Id="Redce118500784f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2620c0a60c4c3c" /><Relationship Type="http://schemas.openxmlformats.org/officeDocument/2006/relationships/notesMaster" Target="/ppt/notesMasters/notesMaster1.xml" Id="Rc2f51d884a1740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e5c848760b4fb5" /><Relationship Type="http://schemas.openxmlformats.org/officeDocument/2006/relationships/notesMaster" Target="/ppt/notesMasters/notesMaster1.xml" Id="R42f7cd1376d848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8c7489f2d34d4b" /><Relationship Type="http://schemas.openxmlformats.org/officeDocument/2006/relationships/notesMaster" Target="/ppt/notesMasters/notesMaster1.xml" Id="Rfb98e9ed390140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b7aef548c24f03" /><Relationship Type="http://schemas.openxmlformats.org/officeDocument/2006/relationships/notesMaster" Target="/ppt/notesMasters/notesMaster1.xml" Id="Rd068b1c13d5f4e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2790c077cd4622" /><Relationship Type="http://schemas.openxmlformats.org/officeDocument/2006/relationships/notesMaster" Target="/ppt/notesMasters/notesMaster1.xml" Id="Rfd609ce4f03f4d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0cd60da09f4a31" /><Relationship Type="http://schemas.openxmlformats.org/officeDocument/2006/relationships/notesMaster" Target="/ppt/notesMasters/notesMaster1.xml" Id="R2fc605bbd72546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97dc034b4743f8" /><Relationship Type="http://schemas.openxmlformats.org/officeDocument/2006/relationships/notesMaster" Target="/ppt/notesMasters/notesMaster1.xml" Id="R4ec61025e7a24d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0ec413234d4861" /><Relationship Type="http://schemas.openxmlformats.org/officeDocument/2006/relationships/notesMaster" Target="/ppt/notesMasters/notesMaster1.xml" Id="R1da1eef66f964f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b4309e74343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e7ad6e55134e57" /><Relationship Type="http://schemas.openxmlformats.org/officeDocument/2006/relationships/slideLayout" Target="/ppt/slideLayouts/slideLayout1.xml" Id="Ra0d6afb2650544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6afb2650544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7ff895c604ae3" /><Relationship Type="http://schemas.openxmlformats.org/officeDocument/2006/relationships/notesSlide" Target="/ppt/notesSlides/notesSlide1.xml" Id="Rb0d74192931e45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402c6609c4bf0" /><Relationship Type="http://schemas.openxmlformats.org/officeDocument/2006/relationships/notesSlide" Target="/ppt/notesSlides/notesSlide2.xml" Id="R85602aa774cc47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995ceca7942c5" /><Relationship Type="http://schemas.openxmlformats.org/officeDocument/2006/relationships/notesSlide" Target="/ppt/notesSlides/notesSlide3.xml" Id="R123295720db34b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7080e9abf443d" /><Relationship Type="http://schemas.openxmlformats.org/officeDocument/2006/relationships/notesSlide" Target="/ppt/notesSlides/notesSlide4.xml" Id="Ra3b57dabc05a4c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f9f7944cf4816" /><Relationship Type="http://schemas.openxmlformats.org/officeDocument/2006/relationships/notesSlide" Target="/ppt/notesSlides/notesSlide5.xml" Id="R8d71ade15d51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24613dad64206" /><Relationship Type="http://schemas.openxmlformats.org/officeDocument/2006/relationships/notesSlide" Target="/ppt/notesSlides/notesSlide6.xml" Id="R476c3dd0485f41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46ba925bf4617" /><Relationship Type="http://schemas.openxmlformats.org/officeDocument/2006/relationships/notesSlide" Target="/ppt/notesSlides/notesSlide7.xml" Id="R42737d19820445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0d612c82b468e" /><Relationship Type="http://schemas.openxmlformats.org/officeDocument/2006/relationships/notesSlide" Target="/ppt/notesSlides/notesSlide8.xml" Id="Rcd45d33c9e0849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23c0c46f04548" /><Relationship Type="http://schemas.openxmlformats.org/officeDocument/2006/relationships/notesSlide" Target="/ppt/notesSlides/notesSlide9.xml" Id="Ra10a4615f0a94c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2c61ef29e4fcc" /><Relationship Type="http://schemas.openxmlformats.org/officeDocument/2006/relationships/notesSlide" Target="/ppt/notesSlides/notesSlide10.xml" Id="R4680777e7ba44a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003262b0e4c5d" /><Relationship Type="http://schemas.openxmlformats.org/officeDocument/2006/relationships/notesSlide" Target="/ppt/notesSlides/notesSlide11.xml" Id="R3f0f73dd92b34e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7997d6e13445d" /><Relationship Type="http://schemas.openxmlformats.org/officeDocument/2006/relationships/notesSlide" Target="/ppt/notesSlides/notesSlide12.xml" Id="Rbe035b2f32b44c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ed8ec04364724" /><Relationship Type="http://schemas.openxmlformats.org/officeDocument/2006/relationships/notesSlide" Target="/ppt/notesSlides/notesSlide13.xml" Id="Rcfe80950289d44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f5bc80aff449f" /><Relationship Type="http://schemas.openxmlformats.org/officeDocument/2006/relationships/notesSlide" Target="/ppt/notesSlides/notesSlide14.xml" Id="Re7ca163d6fef4d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f0949a64d44b5" /><Relationship Type="http://schemas.openxmlformats.org/officeDocument/2006/relationships/notesSlide" Target="/ppt/notesSlides/notesSlide15.xml" Id="R52b64c08b8df45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49781-CA04-4463-8E4A-4B32D60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MASTER'S RESEARCH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12A67-359E-42A5-AAD7-DEFAF92A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Adaptive Tool-Output Injection in LLM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2CAFF-8776-4E41-8CAB-6CF7E599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Trust-boundary characterisation and runtime-mediated defence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A886F-F544-415F-8D88-3B1CFB9A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F54DB-2EF4-4004-BE1F-4746ACC2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B46A4-8DDA-44D9-94C1-95CBDA57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17CC9-BF2E-436F-8071-20BA5537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Where does untrusted tool output first affect privileged control?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35FC2-7283-41B2-84B1-F8BC091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2097C-E742-4E42-A1F2-EB0C9B92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Propagation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2EF8E-4D4B-4CB4-8F43-B55B447F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434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How does contamination move through tool calls, memory, and sinks?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5808C-11E5-4808-AF26-EFC4C269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767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26BF5-856B-4848-8C54-B1FA7FE4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Defence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D986F-A909-44E6-BD9C-E7979C99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434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Which runtime controls reduce impact without killing utility?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21316-AE1F-4257-B634-4A23885D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Supervisor discussion draft | 15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C4043-852A-4A17-8235-B0178632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5165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B9A64-3E56-40B6-BEA7-A196E2DC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DISCUSSION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FF78A-BC5A-47E0-880B-18FFC9A8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What I need from this meeting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B48D5-8571-40FA-AD73-C1E35F2C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F7851-03C0-4D21-9A6A-4545104D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B6F58-32A9-4978-8F73-601EAC0E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29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C595D-9F75-4717-958F-0FD7EC02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BADF3-557E-4D32-9B80-BB0C87B8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Sharpen the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57739-E02F-4992-B86C-6BC303BA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Confirm that the thesis is about the agent-tool trust boundary, not generic jailbreaks or all AI security.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55356-7302-4751-B8DB-01F53498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3429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41C4F-0EF7-49F3-861E-66D33868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5EFD3-ED2E-416D-BF07-3AD31F29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8859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Fix the minimum viable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C006C-11B3-4332-A6D1-D687CEE7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Agree which carriers, tasks, models, and defence ablations must survive the one-year Master's constraint.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BE5C9-FA59-4233-AA1D-F68F2D99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34290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56F7F-65F4-4E72-ABCD-DA888ED4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57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83767-374F-408A-B145-675D573C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Decide risky assumptions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64DE9-3A37-4DF6-98E7-49E4DD6E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Model access, local GPU path, MCP depth, and whether the paper target should stay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DAE30-52DF-45A7-A14C-A00AF7E6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15-minute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4C6F6-385F-44F2-8A94-7374B412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Problem and gap: 3 min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Research questions and contributions: 3 min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Experiment/metrics/defences: 5 min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Artefact, timeline, and supervisor decisions: 4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72A04-5FFC-4801-9D84-195DC54C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4724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AE26B-EE45-44EF-AB44-CA0497B2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Draft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B55B6-A945-45CF-BD6A-3F892436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530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deck is intentionally a discussion scaffold: solid enough to present, but with room for your own judgment and NotebookLM notes.</a:t>
            </a:r>
          </a:p>
        </p:txBody>
      </p:sp>
    </p:spTree>
    <p:extLst>
      <p:ext uri="{BB962C8B-B14F-4D97-AF65-F5344CB8AC3E}">
        <p14:creationId xmlns:p14="http://schemas.microsoft.com/office/powerpoint/2010/main" val="813841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B4A98-37E9-486A-ABEA-1DC22DCE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E8459-0054-4F02-9642-5F0EDEB6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security object is the boundary, not the string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CB1F7-DA7C-45F0-98B3-B2EDED8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373FA-900B-4B2F-BCB9-3D531E87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E19F3-41C3-4185-BE56-1671770D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Tool-output injection becomes dangerous when external data starts steering privileged agent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6C8CD-821D-4926-9BFB-681B6861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proposal narrows prompt injection into a measurable control-flow and state-transition failure.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0EB21-E651-43B9-9AF3-9F4A4357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4552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BD9D9-182D-4616-BC80-A34AA04A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43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Privileged control 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A5503-A595-4993-820E-308CBA84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371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Next selected tool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Serialized tool arguments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Model context on the next step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Persisted memory writes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Sensitive sink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26789-D27D-4EBA-BDC5-71633345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006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Boundary crossing = an attack run changes one of these objects relative to a matched clean control.</a:t>
            </a:r>
          </a:p>
        </p:txBody>
      </p:sp>
    </p:spTree>
    <p:extLst>
      <p:ext uri="{BB962C8B-B14F-4D97-AF65-F5344CB8AC3E}">
        <p14:creationId xmlns:p14="http://schemas.microsoft.com/office/powerpoint/2010/main" val="1869658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B3CF01-6B24-4C9E-939F-9B8B7FA8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THREAT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EBA16-7081-444A-827C-06DBDAF4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Attack surface: untrusted tool-side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12876-2712-4DD4-AB11-9A48158B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DAD9F-DAFC-4EC8-B724-8B87A054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11391900" cy="3162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2619375"/>
                <a:gridCol w="6581775"/>
              </a:tblGrid>
              <a:tr h="45175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Entry point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Tool result body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search snippet, file text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direct indirect-prompt-injection surface</a:t>
                      </a:r>
                    </a:p>
                  </a:txBody>
                  <a:tcPr marL="66675" marR="66675" marT="38100" marB="38100"/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Structured free-text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JSON summary, notes, error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natural language still carries authority cues</a:t>
                      </a:r>
                    </a:p>
                  </a:txBody>
                  <a:tcPr marL="66675" marR="66675" marT="38100" marB="38100"/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Tool catalogue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tool document / description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biases selection before execution</a:t>
                      </a:r>
                    </a:p>
                  </a:txBody>
                  <a:tcPr marL="66675" marR="66675" marT="38100" marB="38100"/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MCP metadata/result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schema, labels, payloads, URLs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protocol may reduce or relocate risk</a:t>
                      </a:r>
                    </a:p>
                  </a:txBody>
                  <a:tcPr marL="66675" marR="66675" marT="38100" marB="38100"/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Browser content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hidden HTML instructions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relevant to web-style agents</a:t>
                      </a:r>
                    </a:p>
                  </a:txBody>
                  <a:tcPr marL="66675" marR="66675" marT="38100" marB="38100"/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Persisted memory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tainted note activates later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captures delayed compromise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38B99-0202-4283-AE2F-C32C6464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Trusted base excludes system prompt edits, model weights, provider compromise, TLS, OS, and host 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BFCD2-3684-4C90-8997-06D6803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 scope: malicious webpages, poisoned files, hostile APIs, remote MCP servers, or compromised third-party content behind a connector.</a:t>
            </a:r>
          </a:p>
        </p:txBody>
      </p:sp>
    </p:spTree>
    <p:extLst>
      <p:ext uri="{BB962C8B-B14F-4D97-AF65-F5344CB8AC3E}">
        <p14:creationId xmlns:p14="http://schemas.microsoft.com/office/powerpoint/2010/main" val="1924659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E084C8-76A1-4D28-BEFE-F333E431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81977-ACF4-4BAE-8384-9633124A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Existing work proves risk; this study measures the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5D781-8059-4CB2-8FF7-7FB0B770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2AF17-4A35-432A-ADA1-D9B6C66A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E16B1-5AC3-43F9-8775-B84BB988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E4810-1F0E-430C-A34F-0AE1B05B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Foundations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484B6-5CDD-4B1B-A72A-534EBACA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Indirect prompt injection and formal prompt-injection benchmarks establish the broad problem.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CCABF-DD72-4E7F-A094-DCE1F7AC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592DA-B63F-48C0-BEEC-62082BE6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Agent benchmarks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D089E-DFC8-4C20-8E0C-0DCA9DF6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AgentDojo, InjecAgent, and Agent Security Bench show realistic tool-agent failures.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7D80E-4E4B-4227-8549-E31EC6C3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52140-F0CC-495B-8C8D-9D5BFE60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Defence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14C53-ED47-4BC3-8217-74388A5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Spotlighting, StruQ, DataSentinel, MELON, parsing, and secure design patterns are promising but fragmented.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B908A-5DF9-4B4F-8286-B1622C0D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006E5-674D-4EC3-B17E-1205A780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EFF71-0403-4C05-90AF-D49A2290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462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The first unsafe boundary crossing and its propagation path remain under-characterised.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E94A9-9F82-44C3-B2D0-B7A93C77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Thesis claim: focus on boundary mechanics, causal metrics, and impact-constraining runtime controls.</a:t>
            </a:r>
          </a:p>
        </p:txBody>
      </p:sp>
    </p:spTree>
    <p:extLst>
      <p:ext uri="{BB962C8B-B14F-4D97-AF65-F5344CB8AC3E}">
        <p14:creationId xmlns:p14="http://schemas.microsoft.com/office/powerpoint/2010/main" val="1943968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720F8-7D11-4CAB-BB57-96DB3DCC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34C4E-883B-4D74-99AD-A6B76F0D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Two questions, five testable hypotheses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E9C29-57A8-46D3-95EC-391D8775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9E872-D81C-468A-BDB2-D06614D8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891CC-B241-4F63-A532-C880398D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219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C5B9D-C033-4A34-B026-CBA52819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RQ1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B30C5-AD0C-4E82-AEE0-9BBF4507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38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How do untrusted tool outputs cross the agent-tool trust boundary, and which output, interface, and task factors determine compromise?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1E47C-6746-4610-A07B-1536290E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RQ1a: boundary-crossing factors</a:t>
            </a:r>
          </a:p>
          <a:p xmlns:a="http://schemas.openxmlformats.org/drawingml/2006/main">
            <a:pPr algn="l"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RQ1b: structured and protocol-mediated carriers</a:t>
            </a:r>
          </a:p>
          <a:p xmlns:a="http://schemas.openxmlformats.org/drawingml/2006/main">
            <a:pPr algn="l">
              <a:def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RQ1c: propagation and persistence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503EA-8E0B-44BD-ACD5-4EA557AC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RQ2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2DF73-16A8-4F6A-8644-F9F5449D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815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Which runtime controls reduce boundary crossing and downstream impact while preserving benign utility?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9DB2B-A946-4869-8A72-0AAE04FE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H1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97C3D-3FE9-4CA4-8612-67DAD526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716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Authority cues and provenance claims raise boundary crossing.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F494B-78A5-496C-A38B-593FB15B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34693-AAE4-4FA7-9D8E-8C16F2F7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H2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70BB9-06AA-4E44-9E59-F1A5940F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14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Error/self-correction channels are disproportionately dangerous.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DEEB9-8448-440C-A6E0-33B84B9F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05B6A-CA32-4926-87E9-D93B4CA1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H3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AEC8D-4242-43B0-B7BE-1FF361CA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Memory-enabled long-horizon tasks amplify persistence.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7FBE0-19FA-4762-A51E-F78538CE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5C09A-9107-4BE4-B4AD-3CCC51C8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H4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72D3C-FC5B-4C85-8EFB-FAA31AF0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00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Simple filters degrade under adaptive bypass.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7B0E5-B432-4A22-8CC2-A7F94A6E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2C26F-6F92-4D22-9906-797966D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244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H5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BB15E2-91ED-4CC2-910F-260B2AD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GCG-style suffixes stress open-weight models but may be detector-visible.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A2BC5-4086-4913-B9B4-E6840024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8756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9ABA92-00BA-403C-BCFA-2D37E527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CONTRIBUTION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94FB7-E79A-428B-864B-704B611A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What the paper and thesis would add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B9387-637E-46A1-B97C-F6F54F30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5AF8F-5AB2-423B-B67E-ECBE2984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11391900" cy="3676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09950"/>
                <a:gridCol w="3028950"/>
                <a:gridCol w="4953000"/>
              </a:tblGrid>
              <a:tr h="6127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Contribution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Paper role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Thesis expansion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Trust-boundary formalisation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conceptual anchor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alternative formulations and taxonomy</a:t>
                      </a:r>
                    </a:p>
                  </a:txBody>
                  <a:tcPr marL="66675" marR="66675" marT="38100" marB="38100"/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Measurement platform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methods contribution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engineering appendix and reproducibility guide</a:t>
                      </a:r>
                    </a:p>
                  </a:txBody>
                  <a:tcPr marL="66675" marR="66675" marT="38100" marB="38100"/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Stage-resolved metrics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main empirical contribution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ablations, robustness, error analysis</a:t>
                      </a:r>
                    </a:p>
                  </a:txBody>
                  <a:tcPr marL="66675" marR="66675" marT="38100" marB="38100"/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Boundary defence architecture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systems-design contribution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component internals and broader ablation</a:t>
                      </a:r>
                    </a:p>
                  </a:txBody>
                  <a:tcPr marL="66675" marR="66675" marT="38100" marB="38100"/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Open artefact bundle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reproducibility strength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datasets, notebooks, docs, release notes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56D2D-8AD1-4D96-BB4B-A72AE4BA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Supervision question: is this contribution set too broad, or is the boundary framing strong enough to hold it together?</a:t>
            </a:r>
          </a:p>
        </p:txBody>
      </p:sp>
    </p:spTree>
    <p:extLst>
      <p:ext uri="{BB962C8B-B14F-4D97-AF65-F5344CB8AC3E}">
        <p14:creationId xmlns:p14="http://schemas.microsoft.com/office/powerpoint/2010/main" val="1706684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2DB45-69BC-487D-85FA-77D6286F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A9E2F-EB94-493A-8312-DDDC99F5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Runtime-mediated measurement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368B1-CD2A-45B3-908D-2E6934E8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6F04C-2BEA-4ED5-B5C1-8D3497D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B2862-B6E4-48F2-BCFB-C1BB505D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ABB85-A6FF-4B9C-A45F-FB8BBC3A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162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Task corpus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B906C-BC0B-485E-BA72-81F72D4D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47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C7A45-B467-4B4A-8B80-F18637BB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765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LangGraph</a:t>
            </a:r>
          </a:p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agent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BD957-F7A8-4C93-A1BD-0E80B9BC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47900"/>
            <a:ext cx="1285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D9D3C-58D6-4752-8A06-35670743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76500"/>
            <a:ext cx="1019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Tool 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7CB37-079C-452C-B049-A2262A77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24790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C0798-2E95-43FD-9462-75027312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476500"/>
            <a:ext cx="206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Adversarial / benign</a:t>
            </a:r>
          </a:p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MCP and HTTP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F2E79-767A-4139-8236-7866818D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1809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19969-6630-4289-9D47-FAC5059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154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mediation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27BC4-617D-4B96-B4B8-D9DC097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47900"/>
            <a:ext cx="1581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CB3C4-F24B-448E-A1B6-D204F94F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7650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Context /</a:t>
            </a:r>
          </a:p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memory /</a:t>
            </a:r>
          </a:p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sinks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C5FB4-402B-4F0C-B78D-A652E371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19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53DA7-F571-4512-8C5C-C4EACD2C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19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848A3-5FC3-468A-8314-C2C73BCC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19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D3D25-3FD2-4CC8-91DE-3DBA10DD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19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9A807-E762-47A0-8AC7-4F8B164E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19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36F74-CBE6-496F-9462-26B608E3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719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E86A37-6276-4FF3-861C-73AC3FB5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81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Trace bus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9F589-0C97-43C4-BD33-90018266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24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step-level state, tool calls, argument fields, memory writes, sink attempts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E19CD0-7D6E-42EF-8E51-052E717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BECC8F-0082-4A1E-B7AD-6EEAEB62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Metrics pipeline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8243F2-44E4-4666-979D-09882709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BCR, TSD, ACR, PI, SR, TTC, CTC, UUD, and statistical modelling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6253FA-9A86-45B4-93B9-F3CA1C08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The boundary layer is both the object of measurement and the defence intervention point.</a:t>
            </a:r>
          </a:p>
        </p:txBody>
      </p:sp>
    </p:spTree>
    <p:extLst>
      <p:ext uri="{BB962C8B-B14F-4D97-AF65-F5344CB8AC3E}">
        <p14:creationId xmlns:p14="http://schemas.microsoft.com/office/powerpoint/2010/main" val="1851412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686E2-850E-4001-8870-5CC9EC73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EXPERIMENT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EB0E8-93BE-4163-A71B-9CEFAADA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Factorised attacks plus three attacker strengths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427B7-8F29-4970-AC7B-06193D27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C729F-6B45-4D20-8E77-DA8C7CB1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58102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4381500"/>
              </a:tblGrid>
              <a:tr h="48985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Factor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Levels to vary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Intent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exfiltration, external action, deviation, memory poisoning</a:t>
                      </a:r>
                    </a:p>
                  </a:txBody>
                  <a:tcPr marL="66675" marR="66675" marT="38100" marB="3810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Format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plain text, markdown, JSON, XML/HTML, MCP result</a:t>
                      </a:r>
                    </a:p>
                  </a:txBody>
                  <a:tcPr marL="66675" marR="66675" marT="38100" marB="3810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Authority cue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none, user-style, developer-style, system/security</a:t>
                      </a:r>
                    </a:p>
                  </a:txBody>
                  <a:tcPr marL="66675" marR="66675" marT="38100" marB="3810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Provenance cue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unknown, partner API, internal, remote MCP</a:t>
                      </a:r>
                    </a:p>
                  </a:txBody>
                  <a:tcPr marL="66675" marR="66675" marT="38100" marB="3810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Placement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body, nested field, metadata, error, hidden text</a:t>
                      </a:r>
                    </a:p>
                  </a:txBody>
                  <a:tcPr marL="66675" marR="66675" marT="38100" marB="3810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Timing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immediate, delayed, memory-triggered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4F004-1A98-4445-818D-69B8E9EE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457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2B9C0-8A26-4D77-9673-40FCAAA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FB194-E9B0-46FF-967F-7EFD3BC9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47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Templated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3CCD8-4283-4256-B370-6F1E9F5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fixed black-box payload grid for screening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648FE-722A-4167-A6A3-4F962683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457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1023C-9B70-46DC-8ADA-FC0F351E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DF85F-F8F0-4CED-AAE0-11634490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7EE9D-F9DE-4C82-8E5F-79DC481D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528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LLM-driven variants with feedback and held-out seeds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04DE6-9069-4BB4-A657-11E4482E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4457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82757-A99E-4B66-87C7-4EC06A5B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DF649-9A3A-4A47-B028-6A5DD64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48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GCG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8BFCC-EF41-4E63-8E81-ED32915A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52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white-box suffix optimisation on open-weight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1CEC6-943A-4BB0-8795-74F0E41B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Pilot first, then prune the matrix before the expensive sweep.</a:t>
            </a:r>
          </a:p>
        </p:txBody>
      </p:sp>
    </p:spTree>
    <p:extLst>
      <p:ext uri="{BB962C8B-B14F-4D97-AF65-F5344CB8AC3E}">
        <p14:creationId xmlns:p14="http://schemas.microsoft.com/office/powerpoint/2010/main" val="551960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18E0F-F53B-4C47-BB01-92CB2DDC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AF27A-49CB-4E66-AA11-D72F8E6F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Stage-resolved compromise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91F92-9305-41FB-843C-A3FC442E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C8A7B-6FB2-4936-9246-CCBC1BB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0836F-0AAE-4F55-9700-E75B1C35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9FAD6-708D-4084-A5D4-4ADC127E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BCR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80667-F4DC-4C40-A2FC-21C9917C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Boundary Crossing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63AE1-0C3B-48F5-B3BA-D2138A29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taint reaches tool choice, arguments, memory, or sinks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8E4DF-2E72-4FF6-B9C3-E9C2A4F5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55FA9-B935-4064-B479-10774D1B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TSD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44C44-5EEB-4BF1-B34B-115F611E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Tool-Selection Divergence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BE92F-2311-44BA-84FA-E4D8AEF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attack tool path diverges from matched clean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03A47-35C9-4D03-B323-A38EB69C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48B0F-F0BD-4594-B024-DD5093FE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44257-4919-4907-8848-F25AA54B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Argument Contamination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80998-B12B-4D8E-9A36-B44B0C85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193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post-attack tool arguments contain taint or unsafe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A43CD-7A0A-4746-8694-7F795C61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D347D-233B-4F19-8D35-D66EA85C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19A5C-922E-4E25-A3DB-39DCAACB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Persistence 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C4300-DD8D-4221-8396-A5458D3B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taint remains across later steps or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E8919-3237-4C5E-B3DF-B326A6A9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9E73F-624F-4792-9D7A-A0D008DF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SR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DBDA4-2E39-4B8D-BCB8-95C9180E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Sink Reachability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1132A-89C4-416B-A1EB-EC058685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sandboxed sensitive sink is reached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2303BF-606F-4A9A-8952-D329CFDE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33718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81D12-4D94-400F-AD63-1A5C0EC1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624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TTC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2BD9EA-1D96-40CE-BFD7-C459D8F4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Time-to-Compromise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8FE7F6-EF3C-4820-ADC1-2FD177D6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148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first step where crossing or sink reachability occurs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8CB88-0A25-4C93-AAB1-73DCB34F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Analysis plan: matched controls, mixed-effects models, bootstrap confidence intervals, survival analysis for TTC, and utility-security trade-off curves.</a:t>
            </a:r>
          </a:p>
        </p:txBody>
      </p:sp>
    </p:spTree>
    <p:extLst>
      <p:ext uri="{BB962C8B-B14F-4D97-AF65-F5344CB8AC3E}">
        <p14:creationId xmlns:p14="http://schemas.microsoft.com/office/powerpoint/2010/main" val="1104912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4FE88-5882-43BE-814C-AB8B8B13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DEFENCE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99AE7-144D-442B-BED0-184658D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Composable controls target impact, not perfect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71753-8585-486F-AB49-2FCF26BC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D36F9-E168-4C61-B27B-05521268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C9A0D-4FF5-4E3D-ACC2-8E2CA26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8A508-FCF8-4DEF-9A31-0120970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F16CB-87DD-40C0-8853-46FF0008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38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Provenance labelling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0AED5-0638-4F02-8F77-C1D52D5A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 identity and trust class on every returned 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6053B-9717-405A-8128-5B427458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EAD96-BB85-4FB4-97A8-C0648550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DACD2-FD8A-494E-8607-55AEAA9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38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Schema extraction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D4C04-BB0D-459E-A82B-001CE329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typed data extraction, surplus free text quarantined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43EF6-4F21-486C-8453-562BC43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35494-DA21-4AD2-A988-66792DF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B17F8-3D21-4C11-BEFE-FFE8E5C2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95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Authority stripping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8564F-1AF3-4A2B-8C7A-827B3928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pseudo-system/developer cues normalised or removed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1B083-2FEB-449A-A837-24EB2254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D4D0E-FA40-4C2F-B932-4ECDC60E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64C48-FCCE-4EC1-97FA-97B2FBBB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Memory quarantine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765AE-8FAF-41EB-B21D-7B089A2B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99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tainted content cannot persist without justification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26B3D-C4E9-4DAF-B576-467600F8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857B4-0CAB-4077-ACEA-E3E7525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A151D-6F5B-441F-970E-034B99AB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Sink guard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500CF-3A0E-4ACC-B12E-63025CAA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E5E7EB"/>
                </a:solidFill>
                <a:latin typeface="Helvetica Neue"/>
                <a:ea typeface="Helvetica Neue"/>
                <a:cs typeface="Helvetica Neue"/>
              </a:rPr>
              <a:t>pre-action verification for sensitive external effects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C5EF05-0076-4332-A799-62DFE7ED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5219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26C24-A39C-4683-A880-01B0CCA6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F1282-0305-4D2D-83D7-3B7D4C6E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529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MCP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75AD8-3005-4ACB-B014-3BA5B7B7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67250"/>
            <a:ext cx="385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validate tool metadata, URLs, resources, and result channels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04C83-E2EA-4C25-A9C3-A3735FE8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Key comparison: filters alone vs boundary-aware controls under adaptive attacks and benign utility tests.</a:t>
            </a:r>
          </a:p>
        </p:txBody>
      </p:sp>
    </p:spTree>
    <p:extLst>
      <p:ext uri="{BB962C8B-B14F-4D97-AF65-F5344CB8AC3E}">
        <p14:creationId xmlns:p14="http://schemas.microsoft.com/office/powerpoint/2010/main" val="18679378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9A135-F016-4CC1-8FE9-70317813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MODELS AND RUNTIMES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DE59B-A3B2-4A5E-A5EA-5716CA35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Budget-aware coverage with one reproducible anchor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B1364-5D03-4803-864D-460021F3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8C81B-0B7D-46AD-A6CE-824F93EE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11391900" cy="3105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3143250"/>
                <a:gridCol w="6438900"/>
              </a:tblGrid>
              <a:tr h="5175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Candidate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Why it is in the study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Primary hosted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OpenAI gpt-5.4-mini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lower-cost OpenAI sweep; modern tool stack</a:t>
                      </a:r>
                    </a:p>
                  </a:txBody>
                  <a:tcPr marL="66675" marR="66675" marT="38100" marB="38100"/>
                </a:tc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Primary hosted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Claude Sonnet 4.6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strong tool-use baseline; broad context</a:t>
                      </a:r>
                    </a:p>
                  </a:txBody>
                  <a:tcPr marL="66675" marR="66675" marT="38100" marB="38100"/>
                </a:tc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Open-weight anchor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Llama-3.3-70B via vLLM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local reproducibility and no API drift</a:t>
                      </a:r>
                    </a:p>
                  </a:txBody>
                  <a:tcPr marL="66675" marR="66675" marT="38100" marB="38100"/>
                </a:tc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Audit subset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GPT-5.5 / Claude Opus 4.8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expensive high-capability stress slice</a:t>
                      </a:r>
                    </a:p>
                  </a:txBody>
                  <a:tcPr marL="66675" marR="66675" marT="38100" marB="38100"/>
                </a:tc>
              </a:tr>
              <a:tr h="5175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Stretch baseline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Gemini 2.5 Pro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external validity if access and time remain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86C38-5084-4020-8171-1B3A5C8A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5295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3D333-D18B-4E18-B009-4D084772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54CBD-3891-45C5-82A4-56D05B40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57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LangGraph for state/tracing; LangChain for model/tool abstractions; OpenAI path via Responses API.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B1BB3-4BC0-45EF-B5B7-CE7CFFA6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600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0EC60-AAC1-4BDD-BBFC-D74B2D5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14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Caution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60B9A-6FEA-4C12-B70E-98A50993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Before experiments, re-verify provider model availability, exact IDs, and API metadata.</a:t>
            </a:r>
          </a:p>
        </p:txBody>
      </p:sp>
    </p:spTree>
    <p:extLst>
      <p:ext uri="{BB962C8B-B14F-4D97-AF65-F5344CB8AC3E}">
        <p14:creationId xmlns:p14="http://schemas.microsoft.com/office/powerpoint/2010/main" val="506592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0FCDA5-C0C6-4064-89A7-AA1D23AD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EXECUTION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48941-6EE0-48DF-BC8A-93AE6D45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Artefact, timeline, and supervisor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62041-3E9A-423F-90BD-57744CC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07AB9-8802-49F3-B0CA-422E8BBB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400050" y="1657350"/>
          <a:ext xmlns:a="http://schemas.openxmlformats.org/drawingml/2006/main" cx="5334000" cy="3028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3524250"/>
              </a:tblGrid>
              <a:tr h="5048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Planned file group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Core files / folders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Runtime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graph, state, prompt, model step, tool dispatch, mediator</a:t>
                      </a:r>
                    </a:p>
                  </a:txBody>
                  <a:tcPr marL="66675" marR="66675" marT="38100" marB="3810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Attack lab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adversarial server, payload factory, GCG optimiser, MCP server</a:t>
                      </a:r>
                    </a:p>
                  </a:txBody>
                  <a:tcPr marL="66675" marR="66675" marT="38100" marB="3810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Metrics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boundary crossing, divergence, taint, persistence, sink reachability</a:t>
                      </a:r>
                    </a:p>
                  </a:txBody>
                  <a:tcPr marL="66675" marR="66675" marT="38100" marB="3810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Defences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provenance, extraction, authority strip, quarantine, sink policy</a:t>
                      </a:r>
                    </a:p>
                  </a:txBody>
                  <a:tcPr marL="66675" marR="66675" marT="38100" marB="38100"/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Release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datasets, notebooks, docs, tests, artefact package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87A10-1038-4209-9833-BDFAB087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Jun-Jul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43EEF-8679-4727-BADA-3424F54D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threat model + runtime skeleton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F7170-AC90-4D73-BA2E-329ED7A4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56B1A-83B4-4428-BCE2-E3AC0CB4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Aug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78310-076A-4CC9-9268-EC66CA4D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pilot tasks + metric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0AA2E-3CAD-4792-A1AD-A78CA33E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4AB17-E7DC-4E6B-9AA5-529289E7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Sep-Nov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5BA3A-CEAF-4AE3-8716-AE59FB87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core characterisation + protocol/persistence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DF15F-2E6F-4664-8CCE-47CBAE5A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91E4B-A994-411A-82C8-B935F5B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28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Dec-Jan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D5939-503A-40D7-A10E-9244806B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defence implementation + adaptive 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A3BDD-EE1B-402E-A8F1-A9FFFD6D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CC557-CA24-4CB7-9E35-8269A40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Feb-Apr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438C9-6DEF-45FA-BF58-D5FC599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paper/thesis draft, artefact hardening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5A00B-369B-44DD-8B7D-C22AFB15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1D6F2-DE4D-480E-92DA-94621D9B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Risks to settle early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D0351-C551-48A4-9799-64F72FCA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scope explosion</a:t>
            </a:r>
          </a:p>
          <a:p xmlns:a="http://schemas.openxmlformats.org/drawingml/2006/main">
            <a:pPr algn="l"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hosted-model drift</a:t>
            </a:r>
          </a:p>
          <a:p xmlns:a="http://schemas.openxmlformats.org/drawingml/2006/main">
            <a:pPr algn="l"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budget overrun</a:t>
            </a:r>
          </a:p>
          <a:p xmlns:a="http://schemas.openxmlformats.org/drawingml/2006/main">
            <a:pPr algn="l"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defence false positives</a:t>
            </a:r>
          </a:p>
          <a:p xmlns:a="http://schemas.openxmlformats.org/drawingml/2006/main">
            <a:pPr algn="l">
              <a:def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- MCP claim overreach</a:t>
            </a:r>
          </a:p>
        </p:txBody>
      </p:sp>
    </p:spTree>
    <p:extLst>
      <p:ext uri="{BB962C8B-B14F-4D97-AF65-F5344CB8AC3E}">
        <p14:creationId xmlns:p14="http://schemas.microsoft.com/office/powerpoint/2010/main" val="15303857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6C62A-5C8F-4930-94D7-944E94A5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C96E6-4F10-4459-8BDD-FC125F6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References for NotebookLM: part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837B9-C68A-4725-B014-88B5ABAB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9BB10-6760-44F2-83D1-CE346DB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FB217-6795-48A2-9448-688F73BB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Full titles and URLs are exported in reference_inventory.csv.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391900" cy="4286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"/>
                <a:gridCol w="1809750"/>
                <a:gridCol w="6286500"/>
                <a:gridCol w="2743200"/>
              </a:tblGrid>
              <a:tr h="238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Short title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Type | domain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NCSC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Prompt injection is not SQL injection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guidance | NCSC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OpenAI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Tools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API docs | OpenAI docs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[3]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OpenAI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Models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model docs | OpenAI docs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[4]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Anthropic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Tool use overview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API docs | Anthropic docs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[5]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Debenedetti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AgentDojo: A Dynamic Environment to Evaluate Prompt Injection Attac...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benchmark | OpenReview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[6]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OpenAI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Tools, connectors, and MCP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API docs | OpenAI docs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[7]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MCP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Specification 2025-11-25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protocol spec | MCP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[8]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Anthropic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Model deprecations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model docs | Anthropic docs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[9]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LangChain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LangGraph overview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framework | LangChain docs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[10]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OpenAI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Assistants API tools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API docs | OpenAI docs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[11]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Meta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Llama-3.3-70B-Instruct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model card | Hugging Face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[12]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Yu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Defense Against Indirect Prompt Injection via Tool Result Parsing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defence | arXiv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[13]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Anthropic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How we contain Claude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guidance | Anthropic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[14]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USENIX Security 2026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Call for Papers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venue | USENIX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[15]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Yao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ReAct: Synergizing Reasoning and Acting in Language Models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agent method | arXiv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[16]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LangChain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Middleware overview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framework | LangChain docs</a:t>
                      </a:r>
                    </a:p>
                  </a:txBody>
                  <a:tcPr marL="66675" marR="66675" marT="38100" marB="38100"/>
                </a:tc>
              </a:tr>
              <a:tr h="238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[17]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Greshake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Not what you've signed up for: Compromising real-world LLM-integrat...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attack paper | arXiv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369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9B857-EEE5-43B8-9B7D-AC4CBEC1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91AAA-6512-49FE-8CF7-E96E90CF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References for NotebookLM: 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015C5-D2B9-407B-8F98-9A31B361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7205C-9504-416B-9E6C-1F00F9EF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30B40-C0C5-4D56-B8A1-8A45728C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Repository files currently present: README.md and .gitattributes; planned artefact files are listed in planned_file_inventory.csv.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391900" cy="4286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52450"/>
                <a:gridCol w="1809750"/>
                <a:gridCol w="6286500"/>
                <a:gridCol w="2743200"/>
              </a:tblGrid>
              <a:tr h="25213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Short title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Type | domain</a:t>
                      </a:r>
                    </a:p>
                  </a:txBody>
                  <a:tcPr marL="66675" marR="66675" marT="38100" marB="38100">
                    <a:solidFill>
                      <a:srgbClr val="111827"/>
                    </a:solidFill>
                  </a:tcPr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[18]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Liu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Formalizing and Benchmarking Prompt Injection Attacks and Defenses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benchmark | USENIX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[19]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Zhan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InjecAgent: Benchmarking Indirect Prompt Injections in Tool-Integra...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benchmark | arXiv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[20]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Zhang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Agent Security Bench: Formalizing and Benchmarking Attacks and Defe...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benchmark | arXiv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[21]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Hines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Defending Against Indirect Prompt Injection Attacks With Spotlighti...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defence | arXiv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[22]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Chen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StruQ: Defending Against Prompt Injection with Structured Queries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defence | arXiv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[23]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Liu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DataSentinel: A Game-Theoretic Detection of Prompt Injection Attacks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defence | arXiv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[24]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Zhu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MELON: Indirect Prompt Injection Defense via Masked Re-execution an...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defence | arXiv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[25]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Beurer-Kellner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Design Patterns for Securing LLM Agents against Prompt Injections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patterns | arXiv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[26]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OWASP GenAI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LLM01: Prompt Injection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guidance | OWASP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[27]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Microsoft Learn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Defend against indirect prompt injection attacks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guidance | Microsoft Learn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[28]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MCP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Security best practices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MCP security | MCP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[29]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OpenAI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Designing agents to resist prompt injection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guidance | openai.com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[30]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Zou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Universal and Transferable Adversarial Attacks on Aligned Language...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attack method | arXiv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[31]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GraySwanAI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nanoGCG: a fast, lightweight PyTorch implementation of GCG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tool/code | GitHub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[32]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Alon &amp; Kamfonas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Detecting Language Model Attacks with Perplexity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detector | arXiv</a:t>
                      </a:r>
                    </a:p>
                  </a:txBody>
                  <a:tcPr marL="66675" marR="66675" marT="38100" marB="38100"/>
                </a:tc>
              </a:tr>
              <a:tr h="2521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[33]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Jain et al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Baseline Defenses for Adversarial Attacks Against Aligned Language...</a:t>
                      </a:r>
                    </a:p>
                  </a:txBody>
                  <a:tcPr marL="66675" marR="66675" marT="38100" marB="3810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50505"/>
                          </a:solidFill>
                        </a:rPr>
                        <a:t>baseline | arXiv</a:t>
                      </a:r>
                    </a:p>
                  </a:txBody>
                  <a:tcPr marL="66675" marR="66675" marT="38100" marB="3810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60F07-CBDB-46FF-B2A5-77089146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Next step: read the source set, then add your judgement on novelty, feasibility, and what to cut.</a:t>
            </a:r>
          </a:p>
        </p:txBody>
      </p:sp>
    </p:spTree>
    <p:extLst>
      <p:ext uri="{BB962C8B-B14F-4D97-AF65-F5344CB8AC3E}">
        <p14:creationId xmlns:p14="http://schemas.microsoft.com/office/powerpoint/2010/main" val="1786784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2026-06-30T09:58:37.2980000Z</dcterms:created>
  <dcterms:modified xsi:type="dcterms:W3CDTF">2026-06-30T09:58:37.2990000Z</dcterms:modified>
</coreProperties>
</file>