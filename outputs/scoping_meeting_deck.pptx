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97f99a4e794ac4" /><Relationship Type="http://schemas.openxmlformats.org/officeDocument/2006/relationships/extended-properties" Target="/docProps/app.xml" Id="R0a2e7e57e94d433a" /><Relationship Type="http://schemas.openxmlformats.org/officeDocument/2006/relationships/officeDocument" Target="/ppt/presentation.xml" Id="R833e7d968ca1446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beb4ba945b4886"/>
  </p:sldMasterIdLst>
  <p:notesMasterIdLst>
    <p:notesMasterId xmlns:r="http://schemas.openxmlformats.org/officeDocument/2006/relationships" r:id="Re21377e68f514a9d"/>
  </p:notesMasterIdLst>
  <p:sldIdLst>
    <p:sldId xmlns:r="http://schemas.openxmlformats.org/officeDocument/2006/relationships" id="256" r:id="R87222b7197824246"/>
    <p:sldId xmlns:r="http://schemas.openxmlformats.org/officeDocument/2006/relationships" id="257" r:id="R9c3847ef16b04cda"/>
    <p:sldId xmlns:r="http://schemas.openxmlformats.org/officeDocument/2006/relationships" id="258" r:id="R773e9508570d4cfb"/>
    <p:sldId xmlns:r="http://schemas.openxmlformats.org/officeDocument/2006/relationships" id="259" r:id="R4f70968634f847f0"/>
    <p:sldId xmlns:r="http://schemas.openxmlformats.org/officeDocument/2006/relationships" id="260" r:id="Rbd2ac8cb8dfb47f3"/>
    <p:sldId xmlns:r="http://schemas.openxmlformats.org/officeDocument/2006/relationships" id="261" r:id="Rf6eb5db5f1794f81"/>
    <p:sldId xmlns:r="http://schemas.openxmlformats.org/officeDocument/2006/relationships" id="262" r:id="Ra51f63d8df11408f"/>
    <p:sldId xmlns:r="http://schemas.openxmlformats.org/officeDocument/2006/relationships" id="263" r:id="R89fda66f949a45e1"/>
    <p:sldId xmlns:r="http://schemas.openxmlformats.org/officeDocument/2006/relationships" id="264" r:id="Re3c4ebb26e5e4862"/>
    <p:sldId xmlns:r="http://schemas.openxmlformats.org/officeDocument/2006/relationships" id="265" r:id="R6b50dc14896c42dc"/>
    <p:sldId xmlns:r="http://schemas.openxmlformats.org/officeDocument/2006/relationships" id="266" r:id="R7348f3c82e434902"/>
    <p:sldId xmlns:r="http://schemas.openxmlformats.org/officeDocument/2006/relationships" id="267" r:id="R6d5249d17e0f4f2e"/>
    <p:sldId xmlns:r="http://schemas.openxmlformats.org/officeDocument/2006/relationships" id="268" r:id="Rc7894558d9c24911"/>
    <p:sldId xmlns:r="http://schemas.openxmlformats.org/officeDocument/2006/relationships" id="269" r:id="Rf604e402bc6a4e37"/>
    <p:sldId xmlns:r="http://schemas.openxmlformats.org/officeDocument/2006/relationships" id="270" r:id="Rff6f42427fb947b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3234fde1a9b4f1d" /><Relationship Type="http://schemas.openxmlformats.org/officeDocument/2006/relationships/slideMaster" Target="/ppt/slideMasters/slideMaster1.xml" Id="Reabeb4ba945b4886" /><Relationship Type="http://schemas.openxmlformats.org/officeDocument/2006/relationships/notesMaster" Target="/ppt/notesMasters/notesMaster1.xml" Id="Re21377e68f514a9d" /><Relationship Type="http://schemas.openxmlformats.org/officeDocument/2006/relationships/presProps" Target="/ppt/presProps.xml" Id="R3f10af1a39494512" /><Relationship Type="http://schemas.openxmlformats.org/officeDocument/2006/relationships/tableStyles" Target="/ppt/tableStyles.xml" Id="R564739b47d574d76" /><Relationship Type="http://schemas.openxmlformats.org/officeDocument/2006/relationships/slide" Target="/ppt/slides/slide1.xml" Id="R87222b7197824246" /><Relationship Type="http://schemas.openxmlformats.org/officeDocument/2006/relationships/slide" Target="/ppt/slides/slide2.xml" Id="R9c3847ef16b04cda" /><Relationship Type="http://schemas.openxmlformats.org/officeDocument/2006/relationships/slide" Target="/ppt/slides/slide3.xml" Id="R773e9508570d4cfb" /><Relationship Type="http://schemas.openxmlformats.org/officeDocument/2006/relationships/slide" Target="/ppt/slides/slide4.xml" Id="R4f70968634f847f0" /><Relationship Type="http://schemas.openxmlformats.org/officeDocument/2006/relationships/slide" Target="/ppt/slides/slide5.xml" Id="Rbd2ac8cb8dfb47f3" /><Relationship Type="http://schemas.openxmlformats.org/officeDocument/2006/relationships/slide" Target="/ppt/slides/slide6.xml" Id="Rf6eb5db5f1794f81" /><Relationship Type="http://schemas.openxmlformats.org/officeDocument/2006/relationships/slide" Target="/ppt/slides/slide7.xml" Id="Ra51f63d8df11408f" /><Relationship Type="http://schemas.openxmlformats.org/officeDocument/2006/relationships/slide" Target="/ppt/slides/slide8.xml" Id="R89fda66f949a45e1" /><Relationship Type="http://schemas.openxmlformats.org/officeDocument/2006/relationships/slide" Target="/ppt/slides/slide9.xml" Id="Re3c4ebb26e5e4862" /><Relationship Type="http://schemas.openxmlformats.org/officeDocument/2006/relationships/slide" Target="/ppt/slides/slide10.xml" Id="R6b50dc14896c42dc" /><Relationship Type="http://schemas.openxmlformats.org/officeDocument/2006/relationships/slide" Target="/ppt/slides/slide11.xml" Id="R7348f3c82e434902" /><Relationship Type="http://schemas.openxmlformats.org/officeDocument/2006/relationships/slide" Target="/ppt/slides/slide12.xml" Id="R6d5249d17e0f4f2e" /><Relationship Type="http://schemas.openxmlformats.org/officeDocument/2006/relationships/slide" Target="/ppt/slides/slide13.xml" Id="Rc7894558d9c24911" /><Relationship Type="http://schemas.openxmlformats.org/officeDocument/2006/relationships/slide" Target="/ppt/slides/slide14.xml" Id="Rf604e402bc6a4e37" /><Relationship Type="http://schemas.openxmlformats.org/officeDocument/2006/relationships/slide" Target="/ppt/slides/slide15.xml" Id="Rff6f42427fb947b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28cf285613141d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e13fc0808e471b" /><Relationship Type="http://schemas.openxmlformats.org/officeDocument/2006/relationships/notesMaster" Target="/ppt/notesMasters/notesMaster1.xml" Id="R7b87aae4a23b42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4a78c4193af4679" /><Relationship Type="http://schemas.openxmlformats.org/officeDocument/2006/relationships/notesMaster" Target="/ppt/notesMasters/notesMaster1.xml" Id="R49b36ce36f0e4db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5737221c68047b7" /><Relationship Type="http://schemas.openxmlformats.org/officeDocument/2006/relationships/notesMaster" Target="/ppt/notesMasters/notesMaster1.xml" Id="Rfe6537c0139b4b4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3f7fb7d4bff42e6" /><Relationship Type="http://schemas.openxmlformats.org/officeDocument/2006/relationships/notesMaster" Target="/ppt/notesMasters/notesMaster1.xml" Id="Ra6db9d9073ac470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0692c54c7704a05" /><Relationship Type="http://schemas.openxmlformats.org/officeDocument/2006/relationships/notesMaster" Target="/ppt/notesMasters/notesMaster1.xml" Id="R823531031f9f4a5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1f835d7e1ea42e1" /><Relationship Type="http://schemas.openxmlformats.org/officeDocument/2006/relationships/notesMaster" Target="/ppt/notesMasters/notesMaster1.xml" Id="Rffb6014a53df482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8223222f0f548e5" /><Relationship Type="http://schemas.openxmlformats.org/officeDocument/2006/relationships/notesMaster" Target="/ppt/notesMasters/notesMaster1.xml" Id="R916105fadc854d4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1ab01b3aafe4277" /><Relationship Type="http://schemas.openxmlformats.org/officeDocument/2006/relationships/notesMaster" Target="/ppt/notesMasters/notesMaster1.xml" Id="R80acfe2a092a437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c98776e6415492e" /><Relationship Type="http://schemas.openxmlformats.org/officeDocument/2006/relationships/notesMaster" Target="/ppt/notesMasters/notesMaster1.xml" Id="R134483b72720473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1ad9d08822b4d4f" /><Relationship Type="http://schemas.openxmlformats.org/officeDocument/2006/relationships/notesMaster" Target="/ppt/notesMasters/notesMaster1.xml" Id="Rab14e5d7af944f5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9ac316cbcb743fa" /><Relationship Type="http://schemas.openxmlformats.org/officeDocument/2006/relationships/notesMaster" Target="/ppt/notesMasters/notesMaster1.xml" Id="R4cf46f446f60438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9fefd01ffc04b3f" /><Relationship Type="http://schemas.openxmlformats.org/officeDocument/2006/relationships/notesMaster" Target="/ppt/notesMasters/notesMaster1.xml" Id="Re22b0bc212f7462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0791d963ba64bc8" /><Relationship Type="http://schemas.openxmlformats.org/officeDocument/2006/relationships/notesMaster" Target="/ppt/notesMasters/notesMaster1.xml" Id="Re7de551383204d9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a5d48c9291c434d" /><Relationship Type="http://schemas.openxmlformats.org/officeDocument/2006/relationships/notesMaster" Target="/ppt/notesMasters/notesMaster1.xml" Id="Rcd6e944dac554e2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f7825f300ac4175" /><Relationship Type="http://schemas.openxmlformats.org/officeDocument/2006/relationships/notesMaster" Target="/ppt/notesMasters/notesMaster1.xml" Id="Rbaeea7e5df684d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33fca4245f49c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1120100d0304bee" /><Relationship Type="http://schemas.openxmlformats.org/officeDocument/2006/relationships/slideLayout" Target="/ppt/slideLayouts/slideLayout1.xml" Id="R8dc6b229522544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c6b229522544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f47433cdd9453f" /><Relationship Type="http://schemas.openxmlformats.org/officeDocument/2006/relationships/notesSlide" Target="/ppt/notesSlides/notesSlide1.xml" Id="Rfc359a11fae442f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7ecaf932c842c7" /><Relationship Type="http://schemas.openxmlformats.org/officeDocument/2006/relationships/notesSlide" Target="/ppt/notesSlides/notesSlide2.xml" Id="Rc473ccc8dca9451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e978408f3045da" /><Relationship Type="http://schemas.openxmlformats.org/officeDocument/2006/relationships/notesSlide" Target="/ppt/notesSlides/notesSlide3.xml" Id="R7ca1335d3b02415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45964eea8e4969" /><Relationship Type="http://schemas.openxmlformats.org/officeDocument/2006/relationships/notesSlide" Target="/ppt/notesSlides/notesSlide4.xml" Id="R6c52a99869824e4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c6cb84885742dc" /><Relationship Type="http://schemas.openxmlformats.org/officeDocument/2006/relationships/notesSlide" Target="/ppt/notesSlides/notesSlide5.xml" Id="Ra884f29c0c9945e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e5b9cc03eb4989" /><Relationship Type="http://schemas.openxmlformats.org/officeDocument/2006/relationships/notesSlide" Target="/ppt/notesSlides/notesSlide6.xml" Id="Rffba0530aca44c5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ca6f82d7f24520" /><Relationship Type="http://schemas.openxmlformats.org/officeDocument/2006/relationships/notesSlide" Target="/ppt/notesSlides/notesSlide7.xml" Id="Rd0d3e010ee654bc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031bfd2d8c4934" /><Relationship Type="http://schemas.openxmlformats.org/officeDocument/2006/relationships/notesSlide" Target="/ppt/notesSlides/notesSlide8.xml" Id="R8e7a6aac20994cc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62c729ad8d4862" /><Relationship Type="http://schemas.openxmlformats.org/officeDocument/2006/relationships/notesSlide" Target="/ppt/notesSlides/notesSlide9.xml" Id="R4b72118f9c2b491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79a7107724470c" /><Relationship Type="http://schemas.openxmlformats.org/officeDocument/2006/relationships/notesSlide" Target="/ppt/notesSlides/notesSlide10.xml" Id="R6801ae485f10402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0da0e8e83c477c" /><Relationship Type="http://schemas.openxmlformats.org/officeDocument/2006/relationships/notesSlide" Target="/ppt/notesSlides/notesSlide11.xml" Id="R488af7ac7ad9475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a4df4605144a94" /><Relationship Type="http://schemas.openxmlformats.org/officeDocument/2006/relationships/notesSlide" Target="/ppt/notesSlides/notesSlide12.xml" Id="R5f63875baea5465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473a96272e4a03" /><Relationship Type="http://schemas.openxmlformats.org/officeDocument/2006/relationships/notesSlide" Target="/ppt/notesSlides/notesSlide13.xml" Id="Rea8ea4a7be524ac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8bda8189434e4e" /><Relationship Type="http://schemas.openxmlformats.org/officeDocument/2006/relationships/notesSlide" Target="/ppt/notesSlides/notesSlide14.xml" Id="Rb8daf54786004da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386ca77a294cba" /><Relationship Type="http://schemas.openxmlformats.org/officeDocument/2006/relationships/notesSlide" Target="/ppt/notesSlides/notesSlide15.xml" Id="R19b378dafcbf489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A31D08-9B11-4C74-AC1D-1551CA50D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DIKSHA SCOPING MEETING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B47408-8554-43B6-B318-CC3A6204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763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Adaptive Tool-Output Injection in LLM Agents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1D3755-81C1-4D0E-9BE3-90400F264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33700"/>
            <a:ext cx="819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 discussion deck for narrowing scope, literature quality, methodology, and contribution claims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BF0E73-1C58-4A66-BD95-F24D794E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533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669980-5FE4-456D-9DE1-6DFB4AE3F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29150"/>
            <a:ext cx="3143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EEAF57-09A1-4E5D-B555-1E93ADB02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Purpose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664A2F-F96C-4D07-861B-0FE07A297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2628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Spark a scoping discussion, not present a finished plan.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3E6D4B-3B45-457D-B1B7-388B516A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629150"/>
            <a:ext cx="3143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323ED9-6B48-4800-BB25-43B8DE6DF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819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Constraint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109028-22CF-4090-8593-F73E8D0B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124450"/>
            <a:ext cx="2628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Literature quality matters: top venues first, weak sources used cautiously.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BBB3B6-3945-4010-9BD1-0F97EC44F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629150"/>
            <a:ext cx="3143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A87EBB-8575-417A-AE1D-48864596B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19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4DCD1D-3D75-4A82-8F6E-5FF5BA00C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124450"/>
            <a:ext cx="2628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Agree the smallest credible Master's project and reading plan.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6B74AC-CD3D-4629-B6D2-2D7BD45D9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819109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BFB122-648A-4CC4-A62D-55E2D2AFB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STRUCTURE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29665E-87BD-4622-A1AF-75E6C877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How this follows the supervisor brief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D66503-B17B-4834-8420-2B8A141EF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858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1A61F1-535A-4EB2-9FFA-080048246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DD696D-66E3-4573-B009-618197195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5219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F7181D-3FAC-45ED-BBD8-EA3C39BAC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Introduction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55FA18-2742-443F-9DA3-EF59E966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717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Problem statement, motivation, and why it matters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3201BD-EFEE-4373-89B3-FAD221AF8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76400"/>
            <a:ext cx="5219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FAFC90-CA6D-4F2D-B4BF-35A539633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478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Prior 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D511E0-7B29-42BD-A6D1-DF6B53623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717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5E7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E5E7EB"/>
                </a:solidFill>
                <a:latin typeface="Helvetica Neue"/>
                <a:ea typeface="Helvetica Neue"/>
                <a:cs typeface="Helvetica Neue"/>
              </a:rPr>
              <a:t>Key papers, research highlights, gaps, and source quality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F4B456-D9C6-463D-986A-C7145CA4D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14650"/>
            <a:ext cx="5219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C26331-D591-42F0-9A54-440446361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861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Methodology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BF9B4F-6580-4FB8-A87D-5522D3535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099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High-level architecture and rough research plan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CEF854-27E8-4D3E-85CD-94EB4B178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14650"/>
            <a:ext cx="5219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97AF9C-B4B3-42BE-993E-BCDEB98C4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861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Evaluation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3F1DC8-6FF5-4584-8E37-800629CE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099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Boundary and utility metrics to discuss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4E6D4A-0F3F-435F-BF14-70747732B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52900"/>
            <a:ext cx="5219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F02806-B19C-4D93-807D-D64CDE3E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243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Contributions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9628E2-F134-4E6B-8F5B-4E8ACBCC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482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Claims tied directly to literature gaps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278442-6966-4645-8A76-FDAC63B9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52900"/>
            <a:ext cx="5219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3EF5EB-ED8F-4D7A-AAF7-5C082A9F6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243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Conclusion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27E2A6-EB43-4E1E-8E98-AE03B1F4E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482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Scoping decisions to ask Diksha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D2B016-A168-4DB4-B373-2A777E06E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914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Design rule for this meeting: every detailed claim should lead to a question about scope.</a:t>
            </a:r>
          </a:p>
        </p:txBody>
      </p:sp>
    </p:spTree>
    <p:extLst>
      <p:ext uri="{BB962C8B-B14F-4D97-AF65-F5344CB8AC3E}">
        <p14:creationId xmlns:p14="http://schemas.microsoft.com/office/powerpoint/2010/main" val="19561407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341F00-2AC0-4594-A08E-6577F7D9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INTRODUCTION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06637D-7D61-4B5C-895D-F3AE57157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Problem: untrusted tool output can become control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2CC4FB-B278-498B-A2A2-0118FCA84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858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5584E8-B9BA-4F20-A6F7-B7F9FB23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E8CACD-5DCC-4558-A98E-D6F9A161A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676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LLM agents increasingly combine reasoning, memory, and external tool use. The risky moment is not just reading bad text; it is when tool-originated content influences privileged runtime decisions.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749087-D536-4E42-89AB-E9AC8F07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24250"/>
            <a:ext cx="6381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- Tool choice and tool arguments can be altered</a:t>
            </a:r>
          </a:p>
          <a:p xmlns:a="http://schemas.openxmlformats.org/drawingml/2006/main">
            <a:pPr algn="l">
              <a:defRPr sz="1575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- Tainted data can enter model context and persisted memory</a:t>
            </a:r>
          </a:p>
          <a:p xmlns:a="http://schemas.openxmlformats.org/drawingml/2006/main">
            <a:pPr algn="l">
              <a:defRPr sz="1575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- Sink actions can cause writes, messages, or external calls</a:t>
            </a:r>
          </a:p>
          <a:p xmlns:a="http://schemas.openxmlformats.org/drawingml/2006/main">
            <a:pPr algn="l">
              <a:defRPr sz="1575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- Current benchmarks show attacks, but often not the first unsafe boundary crossing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B01725-5B81-45F0-8328-8BE561526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790700"/>
            <a:ext cx="3714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175057-9B58-483F-8806-EA8BE85B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Motivation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3FC419-C65D-4569-A640-02BE467E7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4795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If the boundary is not measured, the defence story becomes vague: we can say an attack succeeded, but not where the runtime should have stopped it.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0D1411-3E43-4B50-B31F-C7BBECDE7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957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Scoping question: Is the boundary framing narrow enough for a one-year Master's thesis?</a:t>
            </a:r>
          </a:p>
        </p:txBody>
      </p:sp>
    </p:spTree>
    <p:extLst>
      <p:ext uri="{BB962C8B-B14F-4D97-AF65-F5344CB8AC3E}">
        <p14:creationId xmlns:p14="http://schemas.microsoft.com/office/powerpoint/2010/main" val="9440232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C0DF57-098E-48DB-93C2-D6B415D1C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INTRODUCTION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211167-EF30-4F4A-8738-25B69E42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Proposed scope: agent-tool trust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659E8F-D203-4AC7-A0FF-16FCD8B2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858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2578F3-5DA2-4882-9E5D-A96387164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293E19-D8EC-4F0E-8A0B-5DA3B64BD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31432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2F32FA-9AE0-4FFB-8C49-691B6D2E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External carriers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0B097F-7952-414E-8909-524D840C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web pages, files, APIs, remote MCP servers, connector outputs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304B51-A7B6-4231-A376-EC9B68FF3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924050"/>
            <a:ext cx="31432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3D561B-D211-4E2A-8C55-B3BB2F26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907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Boundary mediation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A00ED7-8C8A-4755-A345-C1FEB3A8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241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5E7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5E7EB"/>
                </a:solidFill>
                <a:latin typeface="Helvetica Neue"/>
                <a:ea typeface="Helvetica Neue"/>
                <a:cs typeface="Helvetica Neue"/>
              </a:rPr>
              <a:t>provenance, parsing, authority stripping, memory policy, sink guard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D94A98-10DF-4095-880B-32CE26B4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24050"/>
            <a:ext cx="31432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0A3949-2432-4CDE-9F4E-F66B873E4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907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Privileged objects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978B7B-7FB1-42A3-96BF-DFE5E5B8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241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next tool, arguments, context, memory write, sink 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4E42F5-082D-4614-904E-8F9416048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514600"/>
            <a:ext cx="342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E13F8B-1355-4B53-8F85-839B40411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514600"/>
            <a:ext cx="342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6CE654-EAE2-40EB-B9E7-5224DEEF3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43400"/>
            <a:ext cx="11391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B41D75-45F5-4993-A532-6350380A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52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Boundary crossing definition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B05B0E-DF1F-4A53-BAC6-540B132F8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720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An attack run changes a privileged control object relative to a matched clean control run.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63A324-068D-406D-81EF-EBB07DA6E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Out of scope: pure jailbreaks, training-time poisoning, provider compromise, OS compromise, and production-client registry security.</a:t>
            </a:r>
          </a:p>
        </p:txBody>
      </p:sp>
    </p:spTree>
    <p:extLst>
      <p:ext uri="{BB962C8B-B14F-4D97-AF65-F5344CB8AC3E}">
        <p14:creationId xmlns:p14="http://schemas.microsoft.com/office/powerpoint/2010/main" val="6657041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3BD9FE-96E3-4117-BC59-18BAE2A9F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PRIOR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D6F5D8-509A-4442-B736-6C319C1E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Preliminary literature map: claims and gaps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B15571-A92A-4EE7-AA3C-E2870EFD6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858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2AF8FC-88E0-4057-90DF-30B1C3B2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400050" y="1676400"/>
          <a:ext xmlns:a="http://schemas.openxmlformats.org/drawingml/2006/main" cx="11391900" cy="35814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619250"/>
                <a:gridCol w="2286000"/>
                <a:gridCol w="3238500"/>
                <a:gridCol w="4248150"/>
              </a:tblGrid>
              <a:tr h="5969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Theme</a:t>
                      </a:r>
                    </a:p>
                  </a:txBody>
                  <a:tcPr marL="66675" marR="66675" marT="38100" marB="381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Key sources</a:t>
                      </a:r>
                    </a:p>
                  </a:txBody>
                  <a:tcPr marL="66675" marR="66675" marT="38100" marB="381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What they give us</a:t>
                      </a:r>
                    </a:p>
                  </a:txBody>
                  <a:tcPr marL="66675" marR="66675" marT="38100" marB="381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Remaining gap</a:t>
                      </a:r>
                    </a:p>
                  </a:txBody>
                  <a:tcPr marL="66675" marR="66675" marT="38100" marB="38100">
                    <a:solidFill>
                      <a:srgbClr val="111827"/>
                    </a:solidFill>
                  </a:tcPr>
                </a:tc>
              </a:tr>
              <a:tr h="5969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50505"/>
                          </a:solidFill>
                        </a:rPr>
                        <a:t>Agent foundations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50505"/>
                          </a:solidFill>
                        </a:rPr>
                        <a:t>ReAct; LangGraph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50505"/>
                          </a:solidFill>
                        </a:rPr>
                        <a:t>tool-use loop and explicit runtime state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50505"/>
                          </a:solidFill>
                        </a:rPr>
                        <a:t>not a security boundary model</a:t>
                      </a:r>
                    </a:p>
                  </a:txBody>
                  <a:tcPr marL="66675" marR="66675" marT="38100" marB="38100"/>
                </a:tc>
              </a:tr>
              <a:tr h="5969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50505"/>
                          </a:solidFill>
                        </a:rPr>
                        <a:t>Prompt injection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50505"/>
                          </a:solidFill>
                        </a:rPr>
                        <a:t>Greshake; Liu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50505"/>
                          </a:solidFill>
                        </a:rPr>
                        <a:t>indirect injection and benchmarking frame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50505"/>
                          </a:solidFill>
                        </a:rPr>
                        <a:t>not stage-resolved runtime causality</a:t>
                      </a:r>
                    </a:p>
                  </a:txBody>
                  <a:tcPr marL="66675" marR="66675" marT="38100" marB="38100"/>
                </a:tc>
              </a:tr>
              <a:tr h="5969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50505"/>
                          </a:solidFill>
                        </a:rPr>
                        <a:t>Agent benchmarks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50505"/>
                          </a:solidFill>
                        </a:rPr>
                        <a:t>AgentDojo; InjecAgent; ASB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50505"/>
                          </a:solidFill>
                        </a:rPr>
                        <a:t>realistic tasks and security tests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50505"/>
                          </a:solidFill>
                        </a:rPr>
                        <a:t>often outcome-level rather than first crossing</a:t>
                      </a:r>
                    </a:p>
                  </a:txBody>
                  <a:tcPr marL="66675" marR="66675" marT="38100" marB="38100"/>
                </a:tc>
              </a:tr>
              <a:tr h="5969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50505"/>
                          </a:solidFill>
                        </a:rPr>
                        <a:t>Defences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50505"/>
                          </a:solidFill>
                        </a:rPr>
                        <a:t>Spotlighting; StruQ; MELON; parsing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50505"/>
                          </a:solidFill>
                        </a:rPr>
                        <a:t>candidate mechanisms and baselines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50505"/>
                          </a:solidFill>
                        </a:rPr>
                        <a:t>fragmented controls, limited adaptive comparison</a:t>
                      </a:r>
                    </a:p>
                  </a:txBody>
                  <a:tcPr marL="66675" marR="66675" marT="38100" marB="38100"/>
                </a:tc>
              </a:tr>
              <a:tr h="5969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50505"/>
                          </a:solidFill>
                        </a:rPr>
                        <a:t>MCP/protocol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50505"/>
                          </a:solidFill>
                        </a:rPr>
                        <a:t>MCP spec; OpenAI/Anthropic docs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50505"/>
                          </a:solidFill>
                        </a:rPr>
                        <a:t>carrier definitions and policy warnings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50505"/>
                          </a:solidFill>
                        </a:rPr>
                        <a:t>carrier-level empirical evidence still thin</a:t>
                      </a:r>
                    </a:p>
                  </a:txBody>
                  <a:tcPr marL="66675" marR="66675" marT="38100" marB="3810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B04444-B6A1-427F-8B8D-7BE45CCA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578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Candidate gap statement: tool-output injection needs a boundary-centred measurement platform and a defence comparison tied to propagation stages.</a:t>
            </a:r>
          </a:p>
        </p:txBody>
      </p:sp>
    </p:spTree>
    <p:extLst>
      <p:ext uri="{BB962C8B-B14F-4D97-AF65-F5344CB8AC3E}">
        <p14:creationId xmlns:p14="http://schemas.microsoft.com/office/powerpoint/2010/main" val="17916318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48709B-27FF-463A-A436-D84C12A0D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PRIOR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80775E-DB0E-4CB6-9C13-950FEE034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Literature quality rubric for the reading 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E08414-91C9-42E1-B142-8A70F9770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858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5A6F65-ECA4-4C2E-BE75-1E145D1F4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400050" y="1676400"/>
          <a:ext xmlns:a="http://schemas.openxmlformats.org/drawingml/2006/main" cx="11391900" cy="3524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095500"/>
                <a:gridCol w="4953000"/>
                <a:gridCol w="4343400"/>
              </a:tblGrid>
              <a:tr h="58737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Bucket</a:t>
                      </a:r>
                    </a:p>
                  </a:txBody>
                  <a:tcPr marL="66675" marR="66675" marT="38100" marB="381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Definition</a:t>
                      </a:r>
                    </a:p>
                  </a:txBody>
                  <a:tcPr marL="66675" marR="66675" marT="38100" marB="381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How to use it</a:t>
                      </a:r>
                    </a:p>
                  </a:txBody>
                  <a:tcPr marL="66675" marR="66675" marT="38100" marB="38100">
                    <a:solidFill>
                      <a:srgbClr val="111827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Tier 1 academic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Peer-reviewed top venue or Q1 journal; verify CORE/JCR/SJR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Can support central novelty and gap claims</a:t>
                      </a:r>
                    </a:p>
                  </a:txBody>
                  <a:tcPr marL="66675" marR="66675" marT="38100" marB="38100"/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Tier 2 academic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Relevant peer-reviewed venue, reputable workshop, or strong preprint pending venue check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Useful, but verify before making it central</a:t>
                      </a:r>
                    </a:p>
                  </a:txBody>
                  <a:tcPr marL="66675" marR="66675" marT="38100" marB="38100"/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Tier 3 academic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Weak venue, old peripheral paper, or unverified low-signal source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Use sparingly or only for background</a:t>
                      </a:r>
                    </a:p>
                  </a:txBody>
                  <a:tcPr marL="66675" marR="66675" marT="38100" marB="38100"/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Authoritative grey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Standards, vendor docs, government/security guidance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Use for interface facts and practice guidance, not academic novelty</a:t>
                      </a:r>
                    </a:p>
                  </a:txBody>
                  <a:tcPr marL="66675" marR="66675" marT="38100" marB="38100"/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Tool/code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GitHub packages, model cards, implementation docs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Use for reproducibility and implementation details</a:t>
                      </a:r>
                    </a:p>
                  </a:txBody>
                  <a:tcPr marL="66675" marR="66675" marT="38100" marB="3810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35CA7C-E4FC-4A6C-96C4-16F34585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578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Working rule: top security venues include IEEE S&amp;P, USENIX Security, ACM CCS, and NDSS; top ML venues include NeurIPS, ICML, and ICLR. Exact rank must be checked in the CSV before final thesis citation.</a:t>
            </a:r>
          </a:p>
        </p:txBody>
      </p:sp>
    </p:spTree>
    <p:extLst>
      <p:ext uri="{BB962C8B-B14F-4D97-AF65-F5344CB8AC3E}">
        <p14:creationId xmlns:p14="http://schemas.microsoft.com/office/powerpoint/2010/main" val="18777575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61DCFE-D46B-4C95-9C82-6485DF2A2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PRIOR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2E5C2F-744A-44C2-B5AC-91A601625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PRISMA-style literature workflow for the first weeks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F4AFED-F776-49E8-91E4-8266E40E2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858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21FB55-8CB6-4FE0-8CC9-A0E338748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CB03C3-4865-4D79-92A7-37CE43936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19240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834D03-6BF5-4497-A86B-FAC9F7722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5265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1. Identify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B0C0A8-7129-494E-ACF6-09E8A8E8A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47950"/>
            <a:ext cx="1524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Research Rabbit, SciSpace, Zotero seeds, backward/forward citation search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9849EC-5C7A-4111-ACA0-F1C621CA6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924050"/>
            <a:ext cx="19240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FEA34E-DC0C-4FBC-A0E6-DC0F526E3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15265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2. Screen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F7FC40-D90C-440E-A87F-D9E4DE4E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647950"/>
            <a:ext cx="1524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title/abstract pass using inclusion criteria: agent + tool output + security boundary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C0B217-4389-49A9-AA49-E0783A9F8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924050"/>
            <a:ext cx="19240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138586-66C9-4285-9654-7EF267428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15265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3. Assess quality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A54E22-B1ED-450A-9422-FDB68B39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647950"/>
            <a:ext cx="1524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5E7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E5E7EB"/>
                </a:solidFill>
                <a:latin typeface="Helvetica Neue"/>
                <a:ea typeface="Helvetica Neue"/>
                <a:cs typeface="Helvetica Neue"/>
              </a:rPr>
              <a:t>CORE for conferences, journal quartiles, venue status, peer review, recency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4EFB9B-6D25-4712-8503-3B0A64A4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924050"/>
            <a:ext cx="19240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2A131A-B2E7-4CE2-BC51-08B2B85B9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5265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4. Extract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3B199D-0C73-4A84-8A8E-24E888C15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647950"/>
            <a:ext cx="1524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theme, attack surface, method, metrics, dataset, defence, gap, rank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48F2CB-EDD6-4503-B5B9-C4D212BE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924050"/>
            <a:ext cx="19240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AB81DF-43D6-414A-9EE4-EDA5C8996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15265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5. Narrow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0827FA-8E1D-4ABE-AF8F-045813606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647950"/>
            <a:ext cx="1524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prioritise Tier 1 and high-relevance Tier 2 papers for full reading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8881C1-7601-4A14-A301-8ADDF557A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Spreadsheet fields to track: Zotero collection, title, year, venue, CORE rank, journal quartile, source type, tier, evidence role, inclusion decision, notes.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A8A0AF-36EA-44DE-A042-3C25CAAF2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531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This is not a full systematic review yet; it is a PRISMA-inspired funnel for transparent scoping.</a:t>
            </a:r>
          </a:p>
        </p:txBody>
      </p:sp>
    </p:spTree>
    <p:extLst>
      <p:ext uri="{BB962C8B-B14F-4D97-AF65-F5344CB8AC3E}">
        <p14:creationId xmlns:p14="http://schemas.microsoft.com/office/powerpoint/2010/main" val="18421137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86A349-8AC2-418E-9633-21600B733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PRIOR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01AC65-DDBF-4041-9501-03F7420D6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Current source inventory from README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803DEB-C7F7-4E38-AF0A-0E0784693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858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9DA8F1-8222-462F-BC06-F57834252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2C427E-16F5-4826-8C0A-A7CF08152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18859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4E65ED-4699-427A-8D17-9710BA30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E72ED7-E520-49C9-A5BF-D1D6F66EE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total README sources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2E1391-A207-42D3-9AC1-68083F87D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714500"/>
            <a:ext cx="18859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BB7153-8FEE-4E6F-9344-E4CF49D56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924050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BFB601-214F-4B58-AF64-53AA21EC7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47650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academic papers / preprints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B0CE48-9F96-4179-A363-488A7641F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714500"/>
            <a:ext cx="18859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BDA25C-AB8F-484F-BD8D-C234AD0F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924050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133B63-9CDD-44AF-BBF8-F26653348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7650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preliminary Tier 1 candidates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671E1C-60EA-487E-A6BF-3487A110E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714500"/>
            <a:ext cx="18859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07D997-00FE-4EBF-BEC3-AFFBDD27F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924050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D1141B-AA9A-4954-950B-9A9BB198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47650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authoritative grey sources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398EDB-6B93-429C-BC02-AE1959DD7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14500"/>
            <a:ext cx="18859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B985E8-FA2D-4DE3-B3B1-E044A2353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924050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E389F7-CD14-4E1D-98B3-300EDE1AE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7650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tool/code source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400050" y="3390900"/>
          <a:ext xmlns:a="http://schemas.openxmlformats.org/drawingml/2006/main" cx="11391900" cy="2381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552450"/>
                <a:gridCol w="4572000"/>
                <a:gridCol w="2857500"/>
                <a:gridCol w="3409950"/>
              </a:tblGrid>
              <a:tr h="238125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 marL="66675" marR="66675" marT="38100" marB="381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Paper</a:t>
                      </a:r>
                    </a:p>
                  </a:txBody>
                  <a:tcPr marL="66675" marR="66675" marT="38100" marB="381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Collection</a:t>
                      </a:r>
                    </a:p>
                  </a:txBody>
                  <a:tcPr marL="66675" marR="66675" marT="38100" marB="381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Quality</a:t>
                      </a:r>
                    </a:p>
                  </a:txBody>
                  <a:tcPr marL="66675" marR="66675" marT="38100" marB="38100">
                    <a:solidFill>
                      <a:srgbClr val="111827"/>
                    </a:solidFill>
                  </a:tcPr>
                </a:tc>
              </a:tr>
              <a:tr h="2381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50505"/>
                          </a:solidFill>
                        </a:rPr>
                        <a:t>[5]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50505"/>
                          </a:solidFill>
                        </a:rPr>
                        <a:t>AgentDojo: A Dynamic Environment to Evaluate...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50505"/>
                          </a:solidFill>
                        </a:rPr>
                        <a:t>Agent benchmarks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50505"/>
                          </a:solidFill>
                        </a:rPr>
                        <a:t>Tier 2: verify venue</a:t>
                      </a:r>
                    </a:p>
                  </a:txBody>
                  <a:tcPr marL="66675" marR="66675" marT="38100" marB="38100"/>
                </a:tc>
              </a:tr>
              <a:tr h="2381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50505"/>
                          </a:solidFill>
                        </a:rPr>
                        <a:t>[12]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50505"/>
                          </a:solidFill>
                        </a:rPr>
                        <a:t>Defense Against Indirect Prompt Injection via...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50505"/>
                          </a:solidFill>
                        </a:rPr>
                        <a:t>Defences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50505"/>
                          </a:solidFill>
                        </a:rPr>
                        <a:t>Tier 2: recent preprint</a:t>
                      </a:r>
                    </a:p>
                  </a:txBody>
                  <a:tcPr marL="66675" marR="66675" marT="38100" marB="38100"/>
                </a:tc>
              </a:tr>
              <a:tr h="2381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50505"/>
                          </a:solidFill>
                        </a:rPr>
                        <a:t>[15]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50505"/>
                          </a:solidFill>
                        </a:rPr>
                        <a:t>ReAct: Synergizing Reasoning and Acting in La...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50505"/>
                          </a:solidFill>
                        </a:rPr>
                        <a:t>Foundations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50505"/>
                          </a:solidFill>
                        </a:rPr>
                        <a:t>Tier 1: top ML venue if ICL...</a:t>
                      </a:r>
                    </a:p>
                  </a:txBody>
                  <a:tcPr marL="66675" marR="66675" marT="38100" marB="38100"/>
                </a:tc>
              </a:tr>
              <a:tr h="2381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50505"/>
                          </a:solidFill>
                        </a:rPr>
                        <a:t>[17]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50505"/>
                          </a:solidFill>
                        </a:rPr>
                        <a:t>Not what you've signed up for: Compromising r...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50505"/>
                          </a:solidFill>
                        </a:rPr>
                        <a:t>Prompt injection and threat model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50505"/>
                          </a:solidFill>
                        </a:rPr>
                        <a:t>Tier 2: influential preprint</a:t>
                      </a:r>
                    </a:p>
                  </a:txBody>
                  <a:tcPr marL="66675" marR="66675" marT="38100" marB="38100"/>
                </a:tc>
              </a:tr>
              <a:tr h="2381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50505"/>
                          </a:solidFill>
                        </a:rPr>
                        <a:t>[18]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50505"/>
                          </a:solidFill>
                        </a:rPr>
                        <a:t>Formalizing and Benchmarking Prompt Injection...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50505"/>
                          </a:solidFill>
                        </a:rPr>
                        <a:t>Prompt injection and threat model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50505"/>
                          </a:solidFill>
                        </a:rPr>
                        <a:t>Tier 1: top security venue</a:t>
                      </a:r>
                    </a:p>
                  </a:txBody>
                  <a:tcPr marL="66675" marR="66675" marT="38100" marB="38100"/>
                </a:tc>
              </a:tr>
              <a:tr h="2381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50505"/>
                          </a:solidFill>
                        </a:rPr>
                        <a:t>[19]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50505"/>
                          </a:solidFill>
                        </a:rPr>
                        <a:t>InjecAgent: Benchmarking Indirect Prompt Inje...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50505"/>
                          </a:solidFill>
                        </a:rPr>
                        <a:t>Agent benchmarks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50505"/>
                          </a:solidFill>
                        </a:rPr>
                        <a:t>Tier 2: preprint unless ven...</a:t>
                      </a:r>
                    </a:p>
                  </a:txBody>
                  <a:tcPr marL="66675" marR="66675" marT="38100" marB="38100"/>
                </a:tc>
              </a:tr>
              <a:tr h="2381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50505"/>
                          </a:solidFill>
                        </a:rPr>
                        <a:t>[20]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50505"/>
                          </a:solidFill>
                        </a:rPr>
                        <a:t>Agent Security Bench: Formalizing and Benchma...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50505"/>
                          </a:solidFill>
                        </a:rPr>
                        <a:t>Agent benchmarks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50505"/>
                          </a:solidFill>
                        </a:rPr>
                        <a:t>Tier 2: preprint unless ven...</a:t>
                      </a:r>
                    </a:p>
                  </a:txBody>
                  <a:tcPr marL="66675" marR="66675" marT="38100" marB="38100"/>
                </a:tc>
              </a:tr>
              <a:tr h="2381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50505"/>
                          </a:solidFill>
                        </a:rPr>
                        <a:t>[21]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50505"/>
                          </a:solidFill>
                        </a:rPr>
                        <a:t>Defending Against Indirect Prompt Injection A...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50505"/>
                          </a:solidFill>
                        </a:rPr>
                        <a:t>Defences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50505"/>
                          </a:solidFill>
                        </a:rPr>
                        <a:t>Tier 2: preprint unless ven...</a:t>
                      </a:r>
                    </a:p>
                  </a:txBody>
                  <a:tcPr marL="66675" marR="66675" marT="38100" marB="38100"/>
                </a:tc>
              </a:tr>
              <a:tr h="2381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50505"/>
                          </a:solidFill>
                        </a:rPr>
                        <a:t>[22]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50505"/>
                          </a:solidFill>
                        </a:rPr>
                        <a:t>StruQ: Defending Against Prompt Injection wit...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50505"/>
                          </a:solidFill>
                        </a:rPr>
                        <a:t>Defences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50505"/>
                          </a:solidFill>
                        </a:rPr>
                        <a:t>Tier 2: preprint unless ven...</a:t>
                      </a:r>
                    </a:p>
                  </a:txBody>
                  <a:tcPr marL="66675" marR="66675" marT="38100" marB="38100"/>
                </a:tc>
              </a:tr>
            </a:tbl>
          </a:graphicData>
        </a:graphic>
      </p:graphicFrame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A13900-ADDB-415A-A1DE-838CC5C2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198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CSV output gives every source a preliminary tier plus fields for Zotero collection, CORE rank, and journal quartile.</a:t>
            </a:r>
          </a:p>
        </p:txBody>
      </p:sp>
    </p:spTree>
    <p:extLst>
      <p:ext uri="{BB962C8B-B14F-4D97-AF65-F5344CB8AC3E}">
        <p14:creationId xmlns:p14="http://schemas.microsoft.com/office/powerpoint/2010/main" val="17364725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320112-FDF9-4DE5-B2F5-2A489E68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RESEARCH METHODOLOGY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7C5A9D-15B3-4967-A261-DF3A80B1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High-level study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4F8244-BD56-493E-9DBA-42E720061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858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2E2B97-14FC-4AB0-8579-C96AA0E0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061207-E296-4FCF-A2B7-3AE0982E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1905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1B8F1A-EEEC-47FB-BC8F-9C84D2C7C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09800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Task corpus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212B5C-9AF8-47E3-8A2D-C8A71886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1504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synthetic office/API/retrieval workflows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7C151E-1654-4810-851E-C7C83807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962150"/>
            <a:ext cx="1905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389257-CCB8-428F-9B50-2468E329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209800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Agent runtime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E124BE-C04B-415B-B981-DE1E02EA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781300"/>
            <a:ext cx="1504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LangGraph state, memory, tool dispatcher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B9799A-930C-4D98-8DC4-CB0A77F77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962150"/>
            <a:ext cx="1905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4E6A6E-84E7-4563-842C-354A0C7A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209800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Attack carriers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153B5B-C758-493C-85DE-AC1121159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81300"/>
            <a:ext cx="1504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tool body, JSON field, metadata, error, MCP 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C65751-F3A6-4665-99FA-D468785D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962150"/>
            <a:ext cx="1905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4C3156-682D-470A-8978-B703553D8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209800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Trace schema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76AB0A-AD28-4A25-BC4B-771EA235E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781300"/>
            <a:ext cx="1504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5E7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E5E7EB"/>
                </a:solidFill>
                <a:latin typeface="Helvetica Neue"/>
                <a:ea typeface="Helvetica Neue"/>
                <a:cs typeface="Helvetica Neue"/>
              </a:rPr>
              <a:t>tool choice, arguments, context, memory, sink attempts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215434-7AAA-4334-B444-1ABC3402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962150"/>
            <a:ext cx="1905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F50B8B-012F-443C-88DB-9EFFA3EB1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09800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Metrics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BCF285-F13A-4E41-B8B1-25821EE16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81300"/>
            <a:ext cx="1504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BCR, TSD, ACR, PI, SR, TTC, utility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BD9E95-BEED-4DB6-85E8-734299DDF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667000"/>
            <a:ext cx="28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15DF41-0DA3-4B9E-8354-49C9190A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67000"/>
            <a:ext cx="28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33F76D-0A1D-4CC1-A5F3-70D74E681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667000"/>
            <a:ext cx="28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EFB5E4-A67B-4930-9B61-A76BD518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667000"/>
            <a:ext cx="28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486C2C-90A3-4AFB-A476-66B21565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91050"/>
            <a:ext cx="5257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F52AFD-F96F-4EDC-87E4-445914337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96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Rough at this stage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96BF65-9F58-492D-9F42-7A8C2D66C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8387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Pilot first; use results to prune factors before expensive hosted-model sweeps.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C7888C-9DD7-4B65-B62E-4E0E48E80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91050"/>
            <a:ext cx="56007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E9B684-2A64-4D5C-871F-269CE9FE6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196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Key decision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CA9107-F267-4130-B5A2-E1CB2010E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387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How much MCP-specific work is thesis core versus a smaller sub-study?</a:t>
            </a:r>
          </a:p>
        </p:txBody>
      </p:sp>
    </p:spTree>
    <p:extLst>
      <p:ext uri="{BB962C8B-B14F-4D97-AF65-F5344CB8AC3E}">
        <p14:creationId xmlns:p14="http://schemas.microsoft.com/office/powerpoint/2010/main" val="4428872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386370-2B4B-4AD2-871D-5A57F05A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RESEARCH METHODOLOGY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62042E-D082-4D79-8F47-ACDAAD1EC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Rough experiment plan for discussion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F2B192-0BFB-4E8A-AA80-B7E4AA530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858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DA881F-50F4-4BE4-8630-CCBDE61BD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79E326-BC11-4ACB-AD41-9A11D9F09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8B7FB8-14F1-4590-869A-9672658B4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335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Pilot calibration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B4583C-5710-4BDA-98A4-DECC9DA6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716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validate traces, task oracles, labels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A9E59F-3942-4A32-B5EA-A83187C5D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7716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200-600 matched runs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1DA499-C3EE-4DF2-9615-D73469CCE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618D4C-47A3-4499-82BF-1DC50BE1A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623785-5FB2-4B7B-955B-914FBAD9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146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Screening factorial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5EC56C-48E5-4B6A-876C-4B2B6B878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5270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find dominant boundary-crossing factors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0C7F7A-839B-471F-9764-CEB24CBC1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527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fractional design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F24654-9EF7-4D73-B52A-FB0EA7C7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A0FD63-5C30-4821-AFF0-EE2833A6C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C929E6-CDD7-4943-BE4B-E8C0594D5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95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Protocol/carrier study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80E85E-56CA-4DA5-AA05-B5214F5FF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337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direct vs MCP and structured carriers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234D19-D8F6-4256-B7FC-7DDB7326C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3337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matched tasks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5D73A8-6472-4661-B010-E9DC0754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E51D0F-B05D-4ED2-8D1C-3A2A1AA9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C98373-31D3-464D-9C68-6AAB738E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76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Persistence study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BDE3D1-0656-42C4-892A-3E1D218E7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11480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memory and delayed activation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D44B19-B3F6-43E9-9696-BD6CA7D1E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1148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long-horizon tasks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A0190C-9D38-4761-A5F0-850D8AE8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B1F27C-951D-465F-B298-EAC7DBA62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29EC8A-8440-4C62-874A-CAADBB386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57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Defence evaluation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936945-7743-4FFB-ACE8-8C3FDF681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8958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ablation under adaptive attacks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5A267F-B82E-478E-910F-2E0634312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8958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utility trade-off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1E9271-22C3-4D8A-860B-47D49F23D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CBB99D-E865-4827-BF23-304A147B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483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Ask Diksha: which phase is essential for a credible thesis, and which should become optional or appendix?</a:t>
            </a:r>
          </a:p>
        </p:txBody>
      </p:sp>
    </p:spTree>
    <p:extLst>
      <p:ext uri="{BB962C8B-B14F-4D97-AF65-F5344CB8AC3E}">
        <p14:creationId xmlns:p14="http://schemas.microsoft.com/office/powerpoint/2010/main" val="194192002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2C8C53-A28C-448F-B6F8-2C90E4B74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EVALUATION CRITERIA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AF1687-CBB0-4B96-ADBE-8A402713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Metrics to show whether the boundary story works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ACB823-3BD8-4D4C-9962-0F85314B6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858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4383C5-03D5-45CB-AFA2-64131E44D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A5D2B1-4065-4A41-B1DF-BD5679A4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33718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B3521A-5CB4-45D0-B244-60816370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72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BCR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9F91A6-4191-4297-B59C-7EF12D09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905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Boundary Crossing Rate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E5C2D7-741E-4B77-B020-D5BFAD476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19350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taint reaches tool choice, args, memory, or sinks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8E4457-BE9D-48AF-A118-A30641C84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76400"/>
            <a:ext cx="33718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9C38A9-C85E-4C47-9108-D0D13B9A4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866900"/>
            <a:ext cx="72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TSD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0BC2E9-75A6-4501-8408-B87F0C57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905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Tool-Selection Divergence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E2502D-D580-4D84-A427-935806BB7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19350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attack path diverges from clean control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8B99CB-1F6C-41C4-B322-35AE9F975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76400"/>
            <a:ext cx="33718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111CD1-0C7B-43FC-AAB8-02CD0456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866900"/>
            <a:ext cx="72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ACR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91686F-5768-4866-9EC1-608444F2C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905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Argument Contamination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8FFD2C-3F7C-476C-A91C-FB1B2B704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19350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unsafe or tainted argument fields after injection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6E7D0B-1CC1-41F9-AA25-5C529EF31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71900"/>
            <a:ext cx="33718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AB1A99-2898-4CD0-A949-03E84DABD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62400"/>
            <a:ext cx="72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PI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A1142E-F20C-44B3-97AC-DF9242C7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00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Persistence Index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6C8797-BFF1-4B5C-BDCF-B4249941D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14850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taint remains across steps or memory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8F8E5E-B66C-48E1-B682-3CAE3C0F4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71900"/>
            <a:ext cx="33718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5782C4-5A39-4774-A9F5-C2049852B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962400"/>
            <a:ext cx="72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SR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58FEF8-A9F3-4A67-9D0B-1D0E65367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000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Sink Reachability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058794-76B5-45C1-8A5C-9287371EF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514850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restricted external effect reached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4276A2-19FB-4DFC-8147-D6BD237AD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71900"/>
            <a:ext cx="33718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173C70-17BC-4C4B-9960-EB8F7EF5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962400"/>
            <a:ext cx="72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TTC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5F305E-D8D5-4701-84E5-13DD32D0C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000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Time to Compromise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397BC5-4752-4875-ACE7-4CFEB7A23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514850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first post-injection crossing step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90F535-046C-4D72-AF3A-E8B9A7552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95950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Add utility metrics so the defence is not just 'more secure' but still usable.</a:t>
            </a:r>
          </a:p>
        </p:txBody>
      </p:sp>
    </p:spTree>
    <p:extLst>
      <p:ext uri="{BB962C8B-B14F-4D97-AF65-F5344CB8AC3E}">
        <p14:creationId xmlns:p14="http://schemas.microsoft.com/office/powerpoint/2010/main" val="8882974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D88556-4671-4330-BE9E-4B28D14A4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CONTRIBUTIONS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EBD592-3867-45CC-94D7-4CC33F8F8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Contribution claims must answer the gaps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8B32ED-DF55-48D2-B80D-404652226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858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A10691-8339-4AC3-9AAF-D285403F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400050" y="1676400"/>
          <a:ext xmlns:a="http://schemas.openxmlformats.org/drawingml/2006/main" cx="11391900" cy="33909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143250"/>
                <a:gridCol w="3619500"/>
                <a:gridCol w="4629150"/>
              </a:tblGrid>
              <a:tr h="67818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Gap in prior work</a:t>
                      </a:r>
                    </a:p>
                  </a:txBody>
                  <a:tcPr marL="66675" marR="66675" marT="38100" marB="381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Proposed contribution</a:t>
                      </a:r>
                    </a:p>
                  </a:txBody>
                  <a:tcPr marL="66675" marR="66675" marT="38100" marB="381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Evidence needed</a:t>
                      </a:r>
                    </a:p>
                  </a:txBody>
                  <a:tcPr marL="66675" marR="66675" marT="38100" marB="38100">
                    <a:solidFill>
                      <a:srgbClr val="111827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Attacks shown, boundary under-characterised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formal trust-boundary model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clear definitions + examples</a:t>
                      </a:r>
                    </a:p>
                  </a:txBody>
                  <a:tcPr marL="66675" marR="66675" marT="38100" marB="38100"/>
                </a:tc>
              </a:tr>
              <a:tr h="6781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Benchmarks often outcome-level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stage-resolved trace schema and metrics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paired clean/attack traces</a:t>
                      </a:r>
                    </a:p>
                  </a:txBody>
                  <a:tcPr marL="66675" marR="66675" marT="38100" marB="38100"/>
                </a:tc>
              </a:tr>
              <a:tr h="6781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MCP risk mostly guidance/spec-level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carrier-level protocol study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direct vs MCP matched comparison</a:t>
                      </a:r>
                    </a:p>
                  </a:txBody>
                  <a:tcPr marL="66675" marR="66675" marT="38100" marB="38100"/>
                </a:tc>
              </a:tr>
              <a:tr h="6781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Defences fragmented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composable boundary controls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ablation + adaptive attack evaluation</a:t>
                      </a:r>
                    </a:p>
                  </a:txBody>
                  <a:tcPr marL="66675" marR="66675" marT="38100" marB="3810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F740F0-9B9A-47D7-A487-2D2E622E0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007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Minimum viable contribution set: (1) boundary measurement platform, (2) causal metrics/evidence of crossing, (3) one defensible runtime-control comparison.</a:t>
            </a:r>
          </a:p>
        </p:txBody>
      </p:sp>
    </p:spTree>
    <p:extLst>
      <p:ext uri="{BB962C8B-B14F-4D97-AF65-F5344CB8AC3E}">
        <p14:creationId xmlns:p14="http://schemas.microsoft.com/office/powerpoint/2010/main" val="70445026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85154C-8096-4EC0-AA4D-CAA6A0B3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21F44D-807D-4DC6-BB71-DC65E9541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Scoping questions for Diksha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DD304E-C832-4102-962D-0C6237BDC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858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6C1EC2-0E46-4FE3-BEF2-2F8901296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D8A345-B1F2-4862-BA4C-6FF4A002A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52197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D3125E-2BB7-481E-AAC3-25553CB3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Novelty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03486F-F331-44D5-BECD-C538FBC44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440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5E7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E5E7EB"/>
                </a:solidFill>
                <a:latin typeface="Helvetica Neue"/>
                <a:ea typeface="Helvetica Neue"/>
                <a:cs typeface="Helvetica Neue"/>
              </a:rPr>
              <a:t>Is 'boundary crossing' sufficiently distinct from another prompt-injection benchmark?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5DA1A5-3261-46A8-A865-B618C9F5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76400"/>
            <a:ext cx="52197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63A51B-857F-4B29-8C1F-85D1FAD5B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478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Scope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D2659E-D190-45DB-AA3C-14CFA1CE0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71700"/>
            <a:ext cx="440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Should MCP be a core RQ or a matched sub-study?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6F69C9-8774-487C-B442-18D5444DA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71800"/>
            <a:ext cx="52197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4B493D-4D0A-419D-8578-158D2ABF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Literature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24CF71-9BCA-4D60-BC65-CF1681342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440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Which top-tier venues and papers must be read before locking the RQ?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B48335-50DD-40F7-8866-1BB4932A4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71800"/>
            <a:ext cx="52197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A4A4A5-90CA-4784-8B46-989F0D6FE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432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Methods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AF4471-F62B-4B4D-B74B-2EE502B8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67100"/>
            <a:ext cx="440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What is the smallest experiment matrix still credible?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1CF46B-A712-4E7C-928B-AF1764EC9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67200"/>
            <a:ext cx="52197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003385-1B9C-4D54-A0A2-93DD768B5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Defence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753200-A33D-4E56-898A-173FD1FE9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440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Which controls are necessary versus too ambitious?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75BD74-59F9-49A2-8E2F-1FC7057E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67200"/>
            <a:ext cx="52197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79BAA4-AD57-471C-A313-28C443A4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386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Submission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03CFEE-F6B0-42A5-AA3D-D4DC024BE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62500"/>
            <a:ext cx="440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Should the paper target stay open or be aligned to a systems-security venue now?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2BFD94-6E15-4693-8096-BE9EC9A46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Desired outcome: leave with a narrower RQ, a ranked reading list, and a feasible pilot plan.</a:t>
            </a:r>
          </a:p>
        </p:txBody>
      </p:sp>
    </p:spTree>
    <p:extLst>
      <p:ext uri="{BB962C8B-B14F-4D97-AF65-F5344CB8AC3E}">
        <p14:creationId xmlns:p14="http://schemas.microsoft.com/office/powerpoint/2010/main" val="17793668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983932-B02E-4A82-B4AF-DB65C2AFD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8310B6-F3D9-41AA-B8D8-155C027D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Immediate two-week action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2D1D85-EB6D-420C-B130-65CF24DB3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858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D46657-18F6-478E-9FAE-A70EA0E7E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EC95E2-F980-4E09-8B5B-3DDB933A8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7165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6DAF26-BA6F-4596-8D06-D6D06D54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733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Build Zotero matrix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F40BFF-E0CB-4626-BBF9-E5DF86290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771650"/>
            <a:ext cx="628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Export collections, fill venue/rank columns, remove low-signal sources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54785B-3473-4DDA-ADCC-71DCC66E1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288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C49C84-DF0B-4D5F-877A-07FFB9B93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0EEEBE-D269-4D9A-9247-40DAFB88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336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Read Tier 1 first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F89523-A716-40B6-8211-966063782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71750"/>
            <a:ext cx="628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USENIX/ICLR/top venue papers, then highly relevant preprints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2DF842-8A66-4255-B6AB-FD07452A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289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24C9FE-95E7-4311-9B99-6103F9C7B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7185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F44B1A-E676-4A1F-827D-773E039E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33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Run PRISMA funnel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F0D7F6-1238-422D-B5CF-6E609489F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371850"/>
            <a:ext cx="628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Document search terms, databases, exclusions, and final included corpus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2AC1BB-9CB1-43F4-B9D9-A0FA75DDB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290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0962EA-488D-432F-B30E-8B20BD15A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7195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5A3BFA-0B41-4A7B-8AE2-32F00CB07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338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Pilot design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E800C3-E968-42D5-B72E-C84174EA0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71950"/>
            <a:ext cx="628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Choose 2-3 tasks, 2 carriers, 1 hosted model, local baseline if possible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2E3331-66EE-4821-AC29-106A6EDB3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291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6E3A2E-B7C8-4F51-A72D-ACFC23D60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7205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E47A9E-E971-439B-9AD7-242B9966D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33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Supervisor checkpoint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68954D-63AB-4881-B4C4-2BD9C8226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972050"/>
            <a:ext cx="628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Confirm scope before implementing the full harness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86F947-F53F-417A-A072-0C85FA1D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292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617948-C29D-4F3A-B1BC-DA98DEC3D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Do not overbuild before the literature and scope are approved.</a:t>
            </a:r>
          </a:p>
        </p:txBody>
      </p:sp>
    </p:spTree>
    <p:extLst>
      <p:ext uri="{BB962C8B-B14F-4D97-AF65-F5344CB8AC3E}">
        <p14:creationId xmlns:p14="http://schemas.microsoft.com/office/powerpoint/2010/main" val="173148378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C26AB0-4E65-4B40-8E9D-87EF069F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BB1F71-5FE0-4EAF-89A4-69B21122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Zotero spreadsheet schema to use next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BAAA46-8D7F-4C93-B64A-E489BF3AE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858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A8C88F-B6F4-4558-8F7E-AA9C339F5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400050" y="1676400"/>
          <a:ext xmlns:a="http://schemas.openxmlformats.org/drawingml/2006/main" cx="11391900" cy="34099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476500"/>
                <a:gridCol w="8915400"/>
              </a:tblGrid>
              <a:tr h="487136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Field</a:t>
                      </a:r>
                    </a:p>
                  </a:txBody>
                  <a:tcPr marL="66675" marR="66675" marT="38100" marB="381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 marL="66675" marR="66675" marT="38100" marB="38100">
                    <a:solidFill>
                      <a:srgbClr val="111827"/>
                    </a:solidFill>
                  </a:tcPr>
                </a:tc>
              </a:tr>
              <a:tr h="48713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zotero_collection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Foundations, Prompt injection, MCP security, Defences, Benchmarks, Attack methods</a:t>
                      </a:r>
                    </a:p>
                  </a:txBody>
                  <a:tcPr marL="66675" marR="66675" marT="38100" marB="38100"/>
                </a:tc>
              </a:tr>
              <a:tr h="48713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venue_quality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Tier 1/2/3 academic, Authoritative grey, Tool/code, Venue info</a:t>
                      </a:r>
                    </a:p>
                  </a:txBody>
                  <a:tcPr marL="66675" marR="66675" marT="38100" marB="38100"/>
                </a:tc>
              </a:tr>
              <a:tr h="48713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rank_indicator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CORE rank for conference or Q1-Q4 journal quartile</a:t>
                      </a:r>
                    </a:p>
                  </a:txBody>
                  <a:tcPr marL="66675" marR="66675" marT="38100" marB="38100"/>
                </a:tc>
              </a:tr>
              <a:tr h="48713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evidence_role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motivation, gap, method, metric, baseline, implementation</a:t>
                      </a:r>
                    </a:p>
                  </a:txBody>
                  <a:tcPr marL="66675" marR="66675" marT="38100" marB="38100"/>
                </a:tc>
              </a:tr>
              <a:tr h="48713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inclusion_decision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include, maybe, exclude, read later</a:t>
                      </a:r>
                    </a:p>
                  </a:txBody>
                  <a:tcPr marL="66675" marR="66675" marT="38100" marB="38100"/>
                </a:tc>
              </a:tr>
              <a:tr h="48713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human_read_status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not read, skimmed, fully read, notes written</a:t>
                      </a:r>
                    </a:p>
                  </a:txBody>
                  <a:tcPr marL="66675" marR="66675" marT="38100" marB="3810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E7FCFC-51C3-45E4-9BFE-B8342295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53050"/>
            <a:ext cx="11391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32E1C5-0266-48DE-B603-8D141592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626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Zotero limitation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40E6D5-9541-45C6-A50D-0E826D566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52450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No Zotero export file was present. Export BibTeX/RIS/CSV from Zotero and I can merge real collection names into this matrix.</a:t>
            </a:r>
          </a:p>
        </p:txBody>
      </p:sp>
    </p:spTree>
    <p:extLst>
      <p:ext uri="{BB962C8B-B14F-4D97-AF65-F5344CB8AC3E}">
        <p14:creationId xmlns:p14="http://schemas.microsoft.com/office/powerpoint/2010/main" val="17748515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2026-06-30T10:16:46.4560000Z</dcterms:created>
  <dcterms:modified xsi:type="dcterms:W3CDTF">2026-06-30T10:16:46.4560000Z</dcterms:modified>
</coreProperties>
</file>